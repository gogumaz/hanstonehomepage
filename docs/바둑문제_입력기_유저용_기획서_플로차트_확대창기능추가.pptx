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2642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807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118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554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473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234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556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231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469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985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3604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797130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5481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6808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8096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3066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354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7262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0" rtl="0" eaLnBrk="1" latinLnBrk="1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D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143000"/>
            <a:ext cx="6583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algun Gothic"/>
              </a:rPr>
              <a:t>바둑문제 입력기 &amp;</a:t>
            </a:r>
            <a:br/>
            <a:r>
              <a:t>유저용 문제풀이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5176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D269"/>
                </a:solidFill>
                <a:latin typeface="Malgun Gothic"/>
              </a:rPr>
              <a:t>9줄 · 13줄 · 19줄 통합 운영 기획서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38328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4EE"/>
                </a:solidFill>
                <a:latin typeface="Malgun Gothic"/>
              </a:rPr>
              <a:t>관리자가 문제를 만들고 → 검수·공개 → 사용자가 풀고 → 결과가 학습기록으로 축적되는 구조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1097280"/>
            <a:ext cx="1143000" cy="1143000"/>
          </a:xfrm>
          <a:prstGeom prst="roundRect">
            <a:avLst/>
          </a:prstGeom>
          <a:solidFill>
            <a:srgbClr val="C4914D"/>
          </a:solidFill>
          <a:ln>
            <a:solidFill>
              <a:srgbClr val="3F7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21040" y="150418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9줄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920" y="2331720"/>
            <a:ext cx="1417320" cy="1417320"/>
          </a:xfrm>
          <a:prstGeom prst="roundRect">
            <a:avLst/>
          </a:prstGeom>
          <a:solidFill>
            <a:srgbClr val="C4914D"/>
          </a:solidFill>
          <a:ln>
            <a:solidFill>
              <a:srgbClr val="31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46920" y="2875787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13줄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3840480"/>
            <a:ext cx="1691640" cy="1691640"/>
          </a:xfrm>
          <a:prstGeom prst="roundRect">
            <a:avLst/>
          </a:prstGeom>
          <a:solidFill>
            <a:srgbClr val="C4914D"/>
          </a:solidFill>
          <a:ln>
            <a:solidFill>
              <a:srgbClr val="6C4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18120" y="452170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19줄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269"/>
                </a:solidFill>
                <a:latin typeface="Malgun Gothic"/>
              </a:rPr>
              <a:t>기획 범위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937760"/>
            <a:ext cx="8778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</a:rPr>
              <a:t>관리자 입력기 · 문제 데이터 구조 · 유저 문제풀이 UX · 채점/힌트 · 진도/통계 · 플로차트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62D48"/>
                </a:solidFill>
                <a:latin typeface="Malgun Gothic"/>
              </a:rPr>
              <a:t>1. 시스템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96E"/>
                </a:solidFill>
                <a:latin typeface="Malgun Gothic"/>
              </a:rPr>
              <a:t>문제 제작은 빠르게, 문제 풀이는 직관적으로, 데이터는 재사용 가능하게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4696E"/>
                </a:solidFill>
                <a:latin typeface="Malgun Gothic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29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64008" cy="1920240"/>
          </a:xfrm>
          <a:prstGeom prst="rect">
            <a:avLst/>
          </a:prstGeom>
          <a:solidFill>
            <a:srgbClr val="3F7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56362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관리자 목표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84248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64696E"/>
                </a:solidFill>
                <a:latin typeface="Malgun Gothic"/>
              </a:rPr>
              <a:t>• 9/13/19줄 즉시 전환</a:t>
            </a:r>
            <a:br/>
            <a:r>
              <a:t>• 클릭으로 흑·백돌 배치</a:t>
            </a:r>
            <a:br/>
            <a:r>
              <a:t>• 정답 수순/복수 정답 입력</a:t>
            </a:r>
            <a:br/>
            <a:r>
              <a:t>• 힌트·해설·난이도 설정</a:t>
            </a:r>
            <a:br/>
            <a:r>
              <a:t>• 미리보기 후 공개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64008" cy="1920240"/>
          </a:xfrm>
          <a:prstGeom prst="rect">
            <a:avLst/>
          </a:prstGeom>
          <a:solidFill>
            <a:srgbClr val="31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56362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학습자 목표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84248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64696E"/>
                </a:solidFill>
                <a:latin typeface="Malgun Gothic"/>
              </a:rPr>
              <a:t>• 문제 목적을 한눈에 이해</a:t>
            </a:r>
            <a:br/>
            <a:r>
              <a:t>• 돌을 직접 놓아 정답 시도</a:t>
            </a:r>
            <a:br/>
            <a:r>
              <a:t>• 즉시 정오답 피드백</a:t>
            </a:r>
            <a:br/>
            <a:r>
              <a:t>• 필요 시 힌트 사용</a:t>
            </a:r>
            <a:br/>
            <a:r>
              <a:t>• 다음 문제로 자연스럽게 이동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17320"/>
            <a:ext cx="3429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417320"/>
            <a:ext cx="64008" cy="1920240"/>
          </a:xfrm>
          <a:prstGeom prst="rect">
            <a:avLst/>
          </a:prstGeom>
          <a:solidFill>
            <a:srgbClr val="6C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56362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운영 목표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84248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64696E"/>
                </a:solidFill>
                <a:latin typeface="Malgun Gothic"/>
              </a:rPr>
              <a:t>• 교재/강의와 문제 연결</a:t>
            </a:r>
            <a:br/>
            <a:r>
              <a:t>• 단계별 문제은행 구축</a:t>
            </a:r>
            <a:br/>
            <a:r>
              <a:t>• 오답·정답률 분석</a:t>
            </a:r>
            <a:br/>
            <a:r>
              <a:t>• 추천문제 자동화 기반 확보</a:t>
            </a:r>
            <a:br/>
            <a:r>
              <a:t>• 모바일/PC 공통 사용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947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E3F30"/>
                </a:solidFill>
                <a:latin typeface="Malgun Gothic"/>
              </a:rPr>
              <a:t>핵심 원칙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06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62D48"/>
                </a:solidFill>
                <a:latin typeface="Malgun Gothic"/>
              </a:rPr>
              <a:t>한 문제 = ‘초기 판 상태 + 누구 차례 + 정답 수순 + 허용 변형 + 힌트 + 해설 + 메타데이터’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9834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96E"/>
                </a:solidFill>
                <a:latin typeface="Malgun Gothic"/>
              </a:rPr>
              <a:t>이미지로 저장하는 방식보다 바둑판 좌표 데이터로 저장해야 9·13·19줄, 자동채점, 재편집, 통계 기능을 안정적으로 구현할 수 있습니다.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5196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696E"/>
                </a:solidFill>
                <a:latin typeface="Malgun Gothic"/>
              </a:rPr>
              <a:t>바둑 타고 한국사 여행 · 바둑문제 시스템 기획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62D48"/>
                </a:solidFill>
                <a:latin typeface="Malgun Gothic"/>
              </a:rPr>
              <a:t>2. 관리자용 바둑문제 입력기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96E"/>
                </a:solidFill>
                <a:latin typeface="Malgun Gothic"/>
              </a:rPr>
              <a:t>한 화면에서 기본정보 → 판 입력 → 정답 → 힌트/해설 → 미리보기 → 저장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4696E"/>
                </a:solidFill>
                <a:latin typeface="Malgun Gothic"/>
              </a:rP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20574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64008" cy="4480560"/>
          </a:xfrm>
          <a:prstGeom prst="rect">
            <a:avLst/>
          </a:prstGeom>
          <a:solidFill>
            <a:srgbClr val="3F7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47218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① 기본 정보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92807"/>
            <a:ext cx="17373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64696E"/>
                </a:solidFill>
                <a:latin typeface="Malgun Gothic"/>
              </a:rPr>
              <a:t>문제 제목</a:t>
            </a:r>
            <a:br/>
            <a:r>
              <a:t>과정: 입문/기초/기본</a:t>
            </a:r>
            <a:br/>
            <a:r>
              <a:t>권: 1~6</a:t>
            </a:r>
            <a:br/>
            <a:r>
              <a:t>강: 1~8</a:t>
            </a:r>
            <a:br/>
            <a:r>
              <a:t>카테고리: 사활/수읽기/맥/포석</a:t>
            </a:r>
            <a:br/>
            <a:r>
              <a:t>난이도</a:t>
            </a:r>
            <a:br/>
            <a:r>
              <a:t>문제 설명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325880"/>
            <a:ext cx="2971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0" y="1325880"/>
            <a:ext cx="64008" cy="4480560"/>
          </a:xfrm>
          <a:prstGeom prst="rect">
            <a:avLst/>
          </a:prstGeom>
          <a:solidFill>
            <a:srgbClr val="C49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0" y="147218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② 바둑판 편집기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892807"/>
            <a:ext cx="26517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64696E"/>
                </a:solidFill>
                <a:latin typeface="Malgun Gothic"/>
              </a:rPr>
              <a:t>줄 수: 9 / 13 / 19</a:t>
            </a:r>
            <a:br/>
            <a:r>
              <a:t>도구: 흑돌·백돌·삭제</a:t>
            </a:r>
            <a:br/>
            <a:r>
              <a:t>좌표 표시 ON/OFF</a:t>
            </a:r>
            <a:br/>
            <a:r>
              <a:t>흑/백 차례 설정</a:t>
            </a:r>
            <a:br/>
            <a:r>
              <a:t>초기화 / 실행취소</a:t>
            </a:r>
            <a:br/>
            <a:r>
              <a:t>문제도 자동 저장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1325880"/>
            <a:ext cx="21488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97880" y="1325880"/>
            <a:ext cx="64008" cy="4480560"/>
          </a:xfrm>
          <a:prstGeom prst="rect">
            <a:avLst/>
          </a:prstGeom>
          <a:solidFill>
            <a:srgbClr val="31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80760" y="14721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③ 정답 설정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892807"/>
            <a:ext cx="18288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64696E"/>
                </a:solidFill>
                <a:latin typeface="Malgun Gothic"/>
              </a:rPr>
              <a:t>정답 1수/다수 수순</a:t>
            </a:r>
            <a:br/>
            <a:r>
              <a:t>복수 정답 허용</a:t>
            </a:r>
            <a:br/>
            <a:r>
              <a:t>변화도 추가</a:t>
            </a:r>
            <a:br/>
            <a:r>
              <a:t>금지 수순</a:t>
            </a:r>
            <a:br/>
            <a:r>
              <a:t>정답 좌표 목록</a:t>
            </a:r>
            <a:br/>
            <a:r>
              <a:t>수순 순서 변경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32588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1325880"/>
            <a:ext cx="64008" cy="4480560"/>
          </a:xfrm>
          <a:prstGeom prst="rect">
            <a:avLst/>
          </a:prstGeom>
          <a:solidFill>
            <a:srgbClr val="6C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147218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④ 부가 설정·공개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892807"/>
            <a:ext cx="31089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64696E"/>
                </a:solidFill>
                <a:latin typeface="Malgun Gothic"/>
              </a:rPr>
              <a:t>배점 / 제한시간</a:t>
            </a:r>
            <a:br/>
            <a:r>
              <a:t>힌트 사용 여부·내용</a:t>
            </a:r>
            <a:br/>
            <a:r>
              <a:t>정답 해설</a:t>
            </a:r>
            <a:br/>
            <a:r>
              <a:t>출처/교재/강의 연결</a:t>
            </a:r>
            <a:br/>
            <a:r>
              <a:t>공개/비공개/예약</a:t>
            </a:r>
            <a:br/>
            <a:r>
              <a:t>미리보기</a:t>
            </a:r>
            <a:br/>
            <a:r>
              <a:t>임시저장 / 저장 / 게시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196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696E"/>
                </a:solidFill>
                <a:latin typeface="Malgun Gothic"/>
              </a:rPr>
              <a:t>바둑 타고 한국사 여행 · 바둑문제 시스템 기획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62D48"/>
                </a:solidFill>
                <a:latin typeface="Malgun Gothic"/>
              </a:rPr>
              <a:t>3. 문제 데이터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96E"/>
                </a:solidFill>
                <a:latin typeface="Malgun Gothic"/>
              </a:rPr>
              <a:t>개발 단계에서 반드시 정의해야 할 핵심 필드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4696E"/>
                </a:solidFill>
                <a:latin typeface="Malgun Gothic"/>
              </a:rP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914400" cy="320040"/>
          </a:xfrm>
          <a:prstGeom prst="roundRect">
            <a:avLst/>
          </a:prstGeom>
          <a:solidFill>
            <a:srgbClr val="3F7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40817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식별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39903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282828"/>
                </a:solidFill>
                <a:latin typeface="Malgun Gothic"/>
              </a:rPr>
              <a:t>problem_id, 제목, 상태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39903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96E"/>
                </a:solidFill>
                <a:latin typeface="Malgun Gothic"/>
              </a:rPr>
              <a:t>운영·수정·통계의 기준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56816"/>
            <a:ext cx="914400" cy="320040"/>
          </a:xfrm>
          <a:prstGeom prst="roundRect">
            <a:avLst/>
          </a:prstGeom>
          <a:solidFill>
            <a:srgbClr val="31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99339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학습분류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98424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282828"/>
                </a:solidFill>
                <a:latin typeface="Malgun Gothic"/>
              </a:rPr>
              <a:t>입문/기초/기본, 권, 강, 유형, 난이도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98424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96E"/>
                </a:solidFill>
                <a:latin typeface="Malgun Gothic"/>
              </a:rPr>
              <a:t>144강 커리큘럼과 연결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542032"/>
            <a:ext cx="914400" cy="320040"/>
          </a:xfrm>
          <a:prstGeom prst="roundRect">
            <a:avLst/>
          </a:prstGeom>
          <a:solidFill>
            <a:srgbClr val="6C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57860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판 정보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2569464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282828"/>
                </a:solidFill>
                <a:latin typeface="Malgun Gothic"/>
              </a:rPr>
              <a:t>board_size, 초기 흑돌/백돌 좌표, 착수 차례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569464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96E"/>
                </a:solidFill>
                <a:latin typeface="Malgun Gothic"/>
              </a:rPr>
              <a:t>9·13·19줄 공통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127248"/>
            <a:ext cx="914400" cy="320040"/>
          </a:xfrm>
          <a:prstGeom prst="roundRect">
            <a:avLst/>
          </a:prstGeom>
          <a:solidFill>
            <a:srgbClr val="C49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31638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정답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154679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282828"/>
                </a:solidFill>
                <a:latin typeface="Malgun Gothic"/>
              </a:rPr>
              <a:t>정답 수순, 복수정답, 허용 변화도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154679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96E"/>
                </a:solidFill>
                <a:latin typeface="Malgun Gothic"/>
              </a:rPr>
              <a:t>자동채점 핵심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12464"/>
            <a:ext cx="914400" cy="320040"/>
          </a:xfrm>
          <a:prstGeom prst="roundRect">
            <a:avLst/>
          </a:prstGeom>
          <a:solidFill>
            <a:srgbClr val="DD8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37490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설명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3739896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282828"/>
                </a:solidFill>
                <a:latin typeface="Malgun Gothic"/>
              </a:rPr>
              <a:t>문제 지시문, 힌트, 정답 해설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739896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96E"/>
                </a:solidFill>
                <a:latin typeface="Malgun Gothic"/>
              </a:rPr>
              <a:t>학습 피드백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297680"/>
            <a:ext cx="914400" cy="320040"/>
          </a:xfrm>
          <a:prstGeom prst="roundRect">
            <a:avLst/>
          </a:prstGeom>
          <a:solidFill>
            <a:srgbClr val="BE3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43342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연동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432511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282828"/>
                </a:solidFill>
                <a:latin typeface="Malgun Gothic"/>
              </a:rPr>
              <a:t>교재 페이지, 강의영상 ID, 역사콘텐츠 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432511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96E"/>
                </a:solidFill>
                <a:latin typeface="Malgun Gothic"/>
              </a:rPr>
              <a:t>융합학습 연결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882896"/>
            <a:ext cx="914400" cy="320040"/>
          </a:xfrm>
          <a:prstGeom prst="roundRect">
            <a:avLst/>
          </a:prstGeom>
          <a:solidFill>
            <a:srgbClr val="16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491947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운영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83080" y="491032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282828"/>
                </a:solidFill>
                <a:latin typeface="Malgun Gothic"/>
              </a:rPr>
              <a:t>공개상태, 게시일, 작성자, 수정일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91032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96E"/>
                </a:solidFill>
                <a:latin typeface="Malgun Gothic"/>
              </a:rPr>
              <a:t>CMS 관리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468112"/>
            <a:ext cx="914400" cy="320040"/>
          </a:xfrm>
          <a:prstGeom prst="roundRect">
            <a:avLst/>
          </a:prstGeom>
          <a:solidFill>
            <a:srgbClr val="646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5800" y="550468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통계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83080" y="5495544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282828"/>
                </a:solidFill>
                <a:latin typeface="Malgun Gothic"/>
              </a:rPr>
              <a:t>시도수, 정답수, 힌트수, 평균 풀이시간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5495544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96E"/>
                </a:solidFill>
                <a:latin typeface="Malgun Gothic"/>
              </a:rPr>
              <a:t>난이도 보정/추천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5196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696E"/>
                </a:solidFill>
                <a:latin typeface="Malgun Gothic"/>
              </a:rPr>
              <a:t>바둑 타고 한국사 여행 · 바둑문제 시스템 기획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62D48"/>
                </a:solidFill>
                <a:latin typeface="Malgun Gothic"/>
              </a:rPr>
              <a:t>4. 유저용 바둑문제 화면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96E"/>
                </a:solidFill>
                <a:latin typeface="Malgun Gothic"/>
              </a:rPr>
              <a:t>줄 수가 달라도 조작 방식은 동일하게 유지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4696E"/>
                </a:solidFill>
                <a:latin typeface="Malgun Gothic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290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64008" cy="4160520"/>
          </a:xfrm>
          <a:prstGeom prst="rect">
            <a:avLst/>
          </a:prstGeom>
          <a:solidFill>
            <a:srgbClr val="3F7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6362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9줄 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84248"/>
            <a:ext cx="3108960" cy="2197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dirty="0" err="1">
                <a:solidFill>
                  <a:schemeClr val="bg1"/>
                </a:solidFill>
                <a:latin typeface="Malgun Gothic"/>
              </a:rPr>
              <a:t>입문</a:t>
            </a:r>
            <a:r>
              <a:rPr sz="1080" b="0" dirty="0">
                <a:solidFill>
                  <a:schemeClr val="bg1"/>
                </a:solidFill>
                <a:latin typeface="Malgun Gothic"/>
              </a:rPr>
              <a:t> </a:t>
            </a:r>
            <a:r>
              <a:rPr sz="1080" b="0" dirty="0" err="1">
                <a:solidFill>
                  <a:schemeClr val="bg1"/>
                </a:solidFill>
                <a:latin typeface="Malgun Gothic"/>
              </a:rPr>
              <a:t>중심</a:t>
            </a:r>
            <a:r>
              <a:rPr sz="1080" b="0" dirty="0">
                <a:solidFill>
                  <a:schemeClr val="bg1"/>
                </a:solidFill>
                <a:latin typeface="Malgun Gothic"/>
              </a:rPr>
              <a:t> · </a:t>
            </a:r>
            <a:r>
              <a:rPr sz="1080" b="0" dirty="0" err="1">
                <a:solidFill>
                  <a:schemeClr val="bg1"/>
                </a:solidFill>
                <a:latin typeface="Malgun Gothic"/>
              </a:rPr>
              <a:t>규칙·따내기·기초</a:t>
            </a:r>
            <a:r>
              <a:rPr sz="1080" b="0" dirty="0">
                <a:solidFill>
                  <a:schemeClr val="bg1"/>
                </a:solidFill>
                <a:latin typeface="Malgun Gothic"/>
              </a:rPr>
              <a:t> </a:t>
            </a:r>
            <a:r>
              <a:rPr sz="1080" b="0" dirty="0" err="1">
                <a:solidFill>
                  <a:schemeClr val="bg1"/>
                </a:solidFill>
                <a:latin typeface="Malgun Gothic"/>
              </a:rPr>
              <a:t>사활</a:t>
            </a:r>
            <a:br>
              <a:rPr dirty="0">
                <a:solidFill>
                  <a:schemeClr val="bg1"/>
                </a:solidFill>
              </a:rPr>
            </a:br>
            <a:br>
              <a:rPr dirty="0">
                <a:solidFill>
                  <a:schemeClr val="bg1"/>
                </a:solidFill>
              </a:rPr>
            </a:br>
            <a:r>
              <a:rPr dirty="0" err="1">
                <a:solidFill>
                  <a:schemeClr val="bg1"/>
                </a:solidFill>
              </a:rPr>
              <a:t>상단</a:t>
            </a:r>
            <a:r>
              <a:rPr dirty="0">
                <a:solidFill>
                  <a:schemeClr val="bg1"/>
                </a:solidFill>
              </a:rPr>
              <a:t>: </a:t>
            </a:r>
            <a:r>
              <a:rPr dirty="0" err="1">
                <a:solidFill>
                  <a:schemeClr val="bg1"/>
                </a:solidFill>
              </a:rPr>
              <a:t>문제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제목·난이도</a:t>
            </a:r>
            <a:br>
              <a:rPr dirty="0">
                <a:solidFill>
                  <a:schemeClr val="bg1"/>
                </a:solidFill>
              </a:rPr>
            </a:br>
            <a:r>
              <a:rPr dirty="0" err="1">
                <a:solidFill>
                  <a:schemeClr val="bg1"/>
                </a:solidFill>
              </a:rPr>
              <a:t>중앙</a:t>
            </a:r>
            <a:r>
              <a:rPr dirty="0">
                <a:solidFill>
                  <a:schemeClr val="bg1"/>
                </a:solidFill>
              </a:rPr>
              <a:t>: </a:t>
            </a:r>
            <a:r>
              <a:rPr dirty="0" err="1">
                <a:solidFill>
                  <a:schemeClr val="bg1"/>
                </a:solidFill>
              </a:rPr>
              <a:t>인터랙티브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바둑판</a:t>
            </a:r>
            <a:br>
              <a:rPr dirty="0">
                <a:solidFill>
                  <a:schemeClr val="bg1"/>
                </a:solidFill>
              </a:rPr>
            </a:br>
            <a:r>
              <a:rPr dirty="0" err="1">
                <a:solidFill>
                  <a:schemeClr val="bg1"/>
                </a:solidFill>
              </a:rPr>
              <a:t>우측</a:t>
            </a:r>
            <a:r>
              <a:rPr dirty="0">
                <a:solidFill>
                  <a:schemeClr val="bg1"/>
                </a:solidFill>
              </a:rPr>
              <a:t>/</a:t>
            </a:r>
            <a:r>
              <a:rPr dirty="0" err="1">
                <a:solidFill>
                  <a:schemeClr val="bg1"/>
                </a:solidFill>
              </a:rPr>
              <a:t>하단</a:t>
            </a:r>
            <a:r>
              <a:rPr dirty="0">
                <a:solidFill>
                  <a:schemeClr val="bg1"/>
                </a:solidFill>
              </a:rPr>
              <a:t>: </a:t>
            </a:r>
            <a:r>
              <a:rPr dirty="0" err="1">
                <a:solidFill>
                  <a:schemeClr val="bg1"/>
                </a:solidFill>
              </a:rPr>
              <a:t>힌트·점수·정답수</a:t>
            </a:r>
            <a:br>
              <a:rPr dirty="0">
                <a:solidFill>
                  <a:schemeClr val="bg1"/>
                </a:solidFill>
              </a:rPr>
            </a:br>
            <a:r>
              <a:rPr dirty="0" err="1">
                <a:solidFill>
                  <a:schemeClr val="bg1"/>
                </a:solidFill>
              </a:rPr>
              <a:t>하단</a:t>
            </a:r>
            <a:r>
              <a:rPr dirty="0">
                <a:solidFill>
                  <a:schemeClr val="bg1"/>
                </a:solidFill>
              </a:rPr>
              <a:t>: </a:t>
            </a:r>
            <a:r>
              <a:rPr dirty="0" err="1">
                <a:solidFill>
                  <a:schemeClr val="bg1"/>
                </a:solidFill>
              </a:rPr>
              <a:t>이전</a:t>
            </a:r>
            <a:r>
              <a:rPr dirty="0">
                <a:solidFill>
                  <a:schemeClr val="bg1"/>
                </a:solidFill>
              </a:rPr>
              <a:t> / </a:t>
            </a:r>
            <a:r>
              <a:rPr dirty="0" err="1">
                <a:solidFill>
                  <a:schemeClr val="bg1"/>
                </a:solidFill>
              </a:rPr>
              <a:t>정답확인</a:t>
            </a:r>
            <a:r>
              <a:rPr dirty="0">
                <a:solidFill>
                  <a:schemeClr val="bg1"/>
                </a:solidFill>
              </a:rPr>
              <a:t> / </a:t>
            </a:r>
            <a:r>
              <a:rPr dirty="0" err="1">
                <a:solidFill>
                  <a:schemeClr val="bg1"/>
                </a:solidFill>
              </a:rPr>
              <a:t>다음</a:t>
            </a:r>
            <a:br>
              <a:rPr dirty="0">
                <a:solidFill>
                  <a:schemeClr val="bg1"/>
                </a:solidFill>
              </a:rPr>
            </a:br>
            <a:br>
              <a:rPr dirty="0">
                <a:solidFill>
                  <a:schemeClr val="bg1"/>
                </a:solidFill>
              </a:rPr>
            </a:br>
            <a:r>
              <a:rPr dirty="0" err="1">
                <a:solidFill>
                  <a:schemeClr val="bg1"/>
                </a:solidFill>
              </a:rPr>
              <a:t>권장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레벨</a:t>
            </a:r>
            <a:r>
              <a:rPr dirty="0">
                <a:solidFill>
                  <a:schemeClr val="bg1"/>
                </a:solidFill>
              </a:rPr>
              <a:t>: </a:t>
            </a:r>
            <a:r>
              <a:rPr dirty="0" err="1">
                <a:solidFill>
                  <a:schemeClr val="bg1"/>
                </a:solidFill>
              </a:rPr>
              <a:t>입문</a:t>
            </a:r>
            <a:r>
              <a:rPr dirty="0">
                <a:solidFill>
                  <a:schemeClr val="bg1"/>
                </a:solidFill>
              </a:rPr>
              <a:t>/</a:t>
            </a:r>
            <a:r>
              <a:rPr dirty="0" err="1">
                <a:solidFill>
                  <a:schemeClr val="bg1"/>
                </a:solidFill>
              </a:rPr>
              <a:t>초급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416552" y="1417320"/>
            <a:ext cx="34290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16552" y="1417320"/>
            <a:ext cx="64008" cy="4160520"/>
          </a:xfrm>
          <a:prstGeom prst="rect">
            <a:avLst/>
          </a:prstGeom>
          <a:solidFill>
            <a:srgbClr val="31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9432" y="156362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13줄 문제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1984248"/>
            <a:ext cx="3108960" cy="2197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dirty="0" err="1">
                <a:solidFill>
                  <a:schemeClr val="bg1"/>
                </a:solidFill>
                <a:latin typeface="Malgun Gothic"/>
              </a:rPr>
              <a:t>기초</a:t>
            </a:r>
            <a:r>
              <a:rPr sz="1080" b="0" dirty="0">
                <a:solidFill>
                  <a:schemeClr val="bg1"/>
                </a:solidFill>
                <a:latin typeface="Malgun Gothic"/>
              </a:rPr>
              <a:t> </a:t>
            </a:r>
            <a:r>
              <a:rPr sz="1080" b="0" dirty="0" err="1">
                <a:solidFill>
                  <a:schemeClr val="bg1"/>
                </a:solidFill>
                <a:latin typeface="Malgun Gothic"/>
              </a:rPr>
              <a:t>중심</a:t>
            </a:r>
            <a:r>
              <a:rPr sz="1080" b="0" dirty="0">
                <a:solidFill>
                  <a:schemeClr val="bg1"/>
                </a:solidFill>
                <a:latin typeface="Malgun Gothic"/>
              </a:rPr>
              <a:t> · </a:t>
            </a:r>
            <a:r>
              <a:rPr sz="1080" b="0" dirty="0" err="1">
                <a:solidFill>
                  <a:schemeClr val="bg1"/>
                </a:solidFill>
                <a:latin typeface="Malgun Gothic"/>
              </a:rPr>
              <a:t>연결·끊기·수읽기</a:t>
            </a:r>
            <a:br>
              <a:rPr dirty="0">
                <a:solidFill>
                  <a:schemeClr val="bg1"/>
                </a:solidFill>
              </a:rPr>
            </a:br>
            <a:br>
              <a:rPr dirty="0">
                <a:solidFill>
                  <a:schemeClr val="bg1"/>
                </a:solidFill>
              </a:rPr>
            </a:br>
            <a:r>
              <a:rPr dirty="0" err="1">
                <a:solidFill>
                  <a:schemeClr val="bg1"/>
                </a:solidFill>
              </a:rPr>
              <a:t>상단</a:t>
            </a:r>
            <a:r>
              <a:rPr dirty="0">
                <a:solidFill>
                  <a:schemeClr val="bg1"/>
                </a:solidFill>
              </a:rPr>
              <a:t>: </a:t>
            </a:r>
            <a:r>
              <a:rPr dirty="0" err="1">
                <a:solidFill>
                  <a:schemeClr val="bg1"/>
                </a:solidFill>
              </a:rPr>
              <a:t>문제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제목·난이도</a:t>
            </a:r>
            <a:br>
              <a:rPr dirty="0">
                <a:solidFill>
                  <a:schemeClr val="bg1"/>
                </a:solidFill>
              </a:rPr>
            </a:br>
            <a:r>
              <a:rPr dirty="0" err="1">
                <a:solidFill>
                  <a:schemeClr val="bg1"/>
                </a:solidFill>
              </a:rPr>
              <a:t>중앙</a:t>
            </a:r>
            <a:r>
              <a:rPr dirty="0">
                <a:solidFill>
                  <a:schemeClr val="bg1"/>
                </a:solidFill>
              </a:rPr>
              <a:t>: </a:t>
            </a:r>
            <a:r>
              <a:rPr dirty="0" err="1">
                <a:solidFill>
                  <a:schemeClr val="bg1"/>
                </a:solidFill>
              </a:rPr>
              <a:t>인터랙티브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바둑판</a:t>
            </a:r>
            <a:br>
              <a:rPr dirty="0">
                <a:solidFill>
                  <a:schemeClr val="bg1"/>
                </a:solidFill>
              </a:rPr>
            </a:br>
            <a:r>
              <a:rPr dirty="0" err="1">
                <a:solidFill>
                  <a:schemeClr val="bg1"/>
                </a:solidFill>
              </a:rPr>
              <a:t>우측</a:t>
            </a:r>
            <a:r>
              <a:rPr dirty="0">
                <a:solidFill>
                  <a:schemeClr val="bg1"/>
                </a:solidFill>
              </a:rPr>
              <a:t>/</a:t>
            </a:r>
            <a:r>
              <a:rPr dirty="0" err="1">
                <a:solidFill>
                  <a:schemeClr val="bg1"/>
                </a:solidFill>
              </a:rPr>
              <a:t>하단</a:t>
            </a:r>
            <a:r>
              <a:rPr dirty="0">
                <a:solidFill>
                  <a:schemeClr val="bg1"/>
                </a:solidFill>
              </a:rPr>
              <a:t>: </a:t>
            </a:r>
            <a:r>
              <a:rPr dirty="0" err="1">
                <a:solidFill>
                  <a:schemeClr val="bg1"/>
                </a:solidFill>
              </a:rPr>
              <a:t>힌트·점수·정답수</a:t>
            </a:r>
            <a:br>
              <a:rPr dirty="0">
                <a:solidFill>
                  <a:schemeClr val="bg1"/>
                </a:solidFill>
              </a:rPr>
            </a:br>
            <a:r>
              <a:rPr dirty="0" err="1">
                <a:solidFill>
                  <a:schemeClr val="bg1"/>
                </a:solidFill>
              </a:rPr>
              <a:t>하단</a:t>
            </a:r>
            <a:r>
              <a:rPr dirty="0">
                <a:solidFill>
                  <a:schemeClr val="bg1"/>
                </a:solidFill>
              </a:rPr>
              <a:t>: </a:t>
            </a:r>
            <a:r>
              <a:rPr dirty="0" err="1">
                <a:solidFill>
                  <a:schemeClr val="bg1"/>
                </a:solidFill>
              </a:rPr>
              <a:t>이전</a:t>
            </a:r>
            <a:r>
              <a:rPr dirty="0">
                <a:solidFill>
                  <a:schemeClr val="bg1"/>
                </a:solidFill>
              </a:rPr>
              <a:t> / </a:t>
            </a:r>
            <a:r>
              <a:rPr dirty="0" err="1">
                <a:solidFill>
                  <a:schemeClr val="bg1"/>
                </a:solidFill>
              </a:rPr>
              <a:t>정답확인</a:t>
            </a:r>
            <a:r>
              <a:rPr dirty="0">
                <a:solidFill>
                  <a:schemeClr val="bg1"/>
                </a:solidFill>
              </a:rPr>
              <a:t> / </a:t>
            </a:r>
            <a:r>
              <a:rPr dirty="0" err="1">
                <a:solidFill>
                  <a:schemeClr val="bg1"/>
                </a:solidFill>
              </a:rPr>
              <a:t>다음</a:t>
            </a:r>
            <a:br>
              <a:rPr dirty="0">
                <a:solidFill>
                  <a:schemeClr val="bg1"/>
                </a:solidFill>
              </a:rPr>
            </a:br>
            <a:br>
              <a:rPr dirty="0">
                <a:solidFill>
                  <a:schemeClr val="bg1"/>
                </a:solidFill>
              </a:rPr>
            </a:br>
            <a:r>
              <a:rPr dirty="0" err="1">
                <a:solidFill>
                  <a:schemeClr val="bg1"/>
                </a:solidFill>
              </a:rPr>
              <a:t>권장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레벨</a:t>
            </a:r>
            <a:r>
              <a:rPr dirty="0">
                <a:solidFill>
                  <a:schemeClr val="bg1"/>
                </a:solidFill>
              </a:rPr>
              <a:t>: </a:t>
            </a:r>
            <a:r>
              <a:rPr dirty="0" err="1">
                <a:solidFill>
                  <a:schemeClr val="bg1"/>
                </a:solidFill>
              </a:rPr>
              <a:t>초급</a:t>
            </a:r>
            <a:r>
              <a:rPr dirty="0">
                <a:solidFill>
                  <a:schemeClr val="bg1"/>
                </a:solidFill>
              </a:rPr>
              <a:t>/</a:t>
            </a:r>
            <a:r>
              <a:rPr dirty="0" err="1">
                <a:solidFill>
                  <a:schemeClr val="bg1"/>
                </a:solidFill>
              </a:rPr>
              <a:t>중급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238744" y="1417320"/>
            <a:ext cx="34290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38744" y="1417320"/>
            <a:ext cx="64008" cy="4160520"/>
          </a:xfrm>
          <a:prstGeom prst="rect">
            <a:avLst/>
          </a:prstGeom>
          <a:solidFill>
            <a:srgbClr val="6C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21624" y="156362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19줄 문제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1624" y="1984248"/>
            <a:ext cx="3108960" cy="2197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dirty="0" err="1">
                <a:solidFill>
                  <a:schemeClr val="bg1"/>
                </a:solidFill>
                <a:latin typeface="Malgun Gothic"/>
              </a:rPr>
              <a:t>기본</a:t>
            </a:r>
            <a:r>
              <a:rPr sz="1080" b="0" dirty="0">
                <a:solidFill>
                  <a:schemeClr val="bg1"/>
                </a:solidFill>
                <a:latin typeface="Malgun Gothic"/>
              </a:rPr>
              <a:t> </a:t>
            </a:r>
            <a:r>
              <a:rPr sz="1080" b="0" dirty="0" err="1">
                <a:solidFill>
                  <a:schemeClr val="bg1"/>
                </a:solidFill>
                <a:latin typeface="Malgun Gothic"/>
              </a:rPr>
              <a:t>중심</a:t>
            </a:r>
            <a:r>
              <a:rPr sz="1080" b="0" dirty="0">
                <a:solidFill>
                  <a:schemeClr val="bg1"/>
                </a:solidFill>
                <a:latin typeface="Malgun Gothic"/>
              </a:rPr>
              <a:t> · </a:t>
            </a:r>
            <a:r>
              <a:rPr sz="1080" b="0" dirty="0" err="1">
                <a:solidFill>
                  <a:schemeClr val="bg1"/>
                </a:solidFill>
                <a:latin typeface="Malgun Gothic"/>
              </a:rPr>
              <a:t>사활·맥·포석·실전</a:t>
            </a:r>
            <a:br>
              <a:rPr dirty="0">
                <a:solidFill>
                  <a:schemeClr val="bg1"/>
                </a:solidFill>
              </a:rPr>
            </a:br>
            <a:br>
              <a:rPr dirty="0">
                <a:solidFill>
                  <a:schemeClr val="bg1"/>
                </a:solidFill>
              </a:rPr>
            </a:br>
            <a:r>
              <a:rPr dirty="0" err="1">
                <a:solidFill>
                  <a:schemeClr val="bg1"/>
                </a:solidFill>
              </a:rPr>
              <a:t>상단</a:t>
            </a:r>
            <a:r>
              <a:rPr dirty="0">
                <a:solidFill>
                  <a:schemeClr val="bg1"/>
                </a:solidFill>
              </a:rPr>
              <a:t>: </a:t>
            </a:r>
            <a:r>
              <a:rPr dirty="0" err="1">
                <a:solidFill>
                  <a:schemeClr val="bg1"/>
                </a:solidFill>
              </a:rPr>
              <a:t>문제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제목·난이도</a:t>
            </a:r>
            <a:br>
              <a:rPr dirty="0">
                <a:solidFill>
                  <a:schemeClr val="bg1"/>
                </a:solidFill>
              </a:rPr>
            </a:br>
            <a:r>
              <a:rPr dirty="0" err="1">
                <a:solidFill>
                  <a:schemeClr val="bg1"/>
                </a:solidFill>
              </a:rPr>
              <a:t>중앙</a:t>
            </a:r>
            <a:r>
              <a:rPr dirty="0">
                <a:solidFill>
                  <a:schemeClr val="bg1"/>
                </a:solidFill>
              </a:rPr>
              <a:t>: </a:t>
            </a:r>
            <a:r>
              <a:rPr dirty="0" err="1">
                <a:solidFill>
                  <a:schemeClr val="bg1"/>
                </a:solidFill>
              </a:rPr>
              <a:t>인터랙티브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바둑판</a:t>
            </a:r>
            <a:br>
              <a:rPr dirty="0">
                <a:solidFill>
                  <a:schemeClr val="bg1"/>
                </a:solidFill>
              </a:rPr>
            </a:br>
            <a:r>
              <a:rPr dirty="0" err="1">
                <a:solidFill>
                  <a:schemeClr val="bg1"/>
                </a:solidFill>
              </a:rPr>
              <a:t>우측</a:t>
            </a:r>
            <a:r>
              <a:rPr dirty="0">
                <a:solidFill>
                  <a:schemeClr val="bg1"/>
                </a:solidFill>
              </a:rPr>
              <a:t>/</a:t>
            </a:r>
            <a:r>
              <a:rPr dirty="0" err="1">
                <a:solidFill>
                  <a:schemeClr val="bg1"/>
                </a:solidFill>
              </a:rPr>
              <a:t>하단</a:t>
            </a:r>
            <a:r>
              <a:rPr dirty="0">
                <a:solidFill>
                  <a:schemeClr val="bg1"/>
                </a:solidFill>
              </a:rPr>
              <a:t>: </a:t>
            </a:r>
            <a:r>
              <a:rPr dirty="0" err="1">
                <a:solidFill>
                  <a:schemeClr val="bg1"/>
                </a:solidFill>
              </a:rPr>
              <a:t>힌트·점수·정답수</a:t>
            </a:r>
            <a:br>
              <a:rPr dirty="0">
                <a:solidFill>
                  <a:schemeClr val="bg1"/>
                </a:solidFill>
              </a:rPr>
            </a:br>
            <a:r>
              <a:rPr dirty="0" err="1">
                <a:solidFill>
                  <a:schemeClr val="bg1"/>
                </a:solidFill>
              </a:rPr>
              <a:t>하단</a:t>
            </a:r>
            <a:r>
              <a:rPr dirty="0">
                <a:solidFill>
                  <a:schemeClr val="bg1"/>
                </a:solidFill>
              </a:rPr>
              <a:t>: </a:t>
            </a:r>
            <a:r>
              <a:rPr dirty="0" err="1">
                <a:solidFill>
                  <a:schemeClr val="bg1"/>
                </a:solidFill>
              </a:rPr>
              <a:t>이전</a:t>
            </a:r>
            <a:r>
              <a:rPr dirty="0">
                <a:solidFill>
                  <a:schemeClr val="bg1"/>
                </a:solidFill>
              </a:rPr>
              <a:t> / </a:t>
            </a:r>
            <a:r>
              <a:rPr dirty="0" err="1">
                <a:solidFill>
                  <a:schemeClr val="bg1"/>
                </a:solidFill>
              </a:rPr>
              <a:t>정답확인</a:t>
            </a:r>
            <a:r>
              <a:rPr dirty="0">
                <a:solidFill>
                  <a:schemeClr val="bg1"/>
                </a:solidFill>
              </a:rPr>
              <a:t> / </a:t>
            </a:r>
            <a:r>
              <a:rPr dirty="0" err="1">
                <a:solidFill>
                  <a:schemeClr val="bg1"/>
                </a:solidFill>
              </a:rPr>
              <a:t>다음</a:t>
            </a:r>
            <a:br>
              <a:rPr dirty="0">
                <a:solidFill>
                  <a:schemeClr val="bg1"/>
                </a:solidFill>
              </a:rPr>
            </a:br>
            <a:br>
              <a:rPr dirty="0">
                <a:solidFill>
                  <a:schemeClr val="bg1"/>
                </a:solidFill>
              </a:rPr>
            </a:br>
            <a:r>
              <a:rPr dirty="0" err="1">
                <a:solidFill>
                  <a:schemeClr val="bg1"/>
                </a:solidFill>
              </a:rPr>
              <a:t>권장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레벨</a:t>
            </a:r>
            <a:r>
              <a:rPr dirty="0">
                <a:solidFill>
                  <a:schemeClr val="bg1"/>
                </a:solidFill>
              </a:rPr>
              <a:t>: </a:t>
            </a:r>
            <a:r>
              <a:rPr dirty="0" err="1">
                <a:solidFill>
                  <a:schemeClr val="bg1"/>
                </a:solidFill>
              </a:rPr>
              <a:t>중급</a:t>
            </a:r>
            <a:r>
              <a:rPr dirty="0">
                <a:solidFill>
                  <a:schemeClr val="bg1"/>
                </a:solidFill>
              </a:rPr>
              <a:t>/</a:t>
            </a:r>
            <a:r>
              <a:rPr dirty="0" err="1">
                <a:solidFill>
                  <a:schemeClr val="bg1"/>
                </a:solidFill>
              </a:rPr>
              <a:t>고급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80" y="65196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696E"/>
                </a:solidFill>
                <a:latin typeface="Malgun Gothic"/>
              </a:rPr>
              <a:t>바둑 타고 한국사 여행 · 바둑문제 시스템 기획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BAD9EC8-9541-4433-8427-A4D64B598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045" y="4181773"/>
            <a:ext cx="2081629" cy="2081629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DD7AC691-34ED-4937-BE8A-C42E16710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3097" y="4181772"/>
            <a:ext cx="2081629" cy="2081629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2C89CBEF-F328-42AE-8596-7B2F09D7A8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1016" y="4181773"/>
            <a:ext cx="2081628" cy="20816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62D48"/>
                </a:solidFill>
                <a:latin typeface="Malgun Gothic"/>
              </a:rPr>
              <a:t>5. 문제풀이 UX와 자동채점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96E"/>
                </a:solidFill>
                <a:latin typeface="Malgun Gothic"/>
              </a:rPr>
              <a:t>‘정답 확인’만 있는 퀴즈가 아니라 수순 단위 피드백을 제공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4696E"/>
                </a:solidFill>
                <a:latin typeface="Malgun Gothic"/>
              </a:rP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554480"/>
            <a:ext cx="162763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554480"/>
            <a:ext cx="64008" cy="1417320"/>
          </a:xfrm>
          <a:prstGeom prst="rect">
            <a:avLst/>
          </a:prstGeom>
          <a:solidFill>
            <a:srgbClr val="3F7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700784"/>
            <a:ext cx="1307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문제 진입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21408"/>
            <a:ext cx="13075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64696E"/>
                </a:solidFill>
                <a:latin typeface="Malgun Gothic"/>
              </a:rPr>
              <a:t>초기 판 상태 로드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57400" y="2240280"/>
            <a:ext cx="256032" cy="0"/>
          </a:xfrm>
          <a:prstGeom prst="line">
            <a:avLst/>
          </a:prstGeom>
          <a:ln w="19050">
            <a:solidFill>
              <a:srgbClr val="3F7E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50008" y="1554480"/>
            <a:ext cx="162763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350008" y="1554480"/>
            <a:ext cx="64008" cy="1417320"/>
          </a:xfrm>
          <a:prstGeom prst="rect">
            <a:avLst/>
          </a:prstGeom>
          <a:solidFill>
            <a:srgbClr val="31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32888" y="1700784"/>
            <a:ext cx="1307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착수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2888" y="2121408"/>
            <a:ext cx="13075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64696E"/>
                </a:solidFill>
                <a:latin typeface="Malgun Gothic"/>
              </a:rPr>
              <a:t>사용자 좌표 기록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95928" y="2240280"/>
            <a:ext cx="256032" cy="0"/>
          </a:xfrm>
          <a:prstGeom prst="line">
            <a:avLst/>
          </a:prstGeom>
          <a:ln w="19050">
            <a:solidFill>
              <a:srgbClr val="31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88536" y="1554480"/>
            <a:ext cx="162763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88536" y="1554480"/>
            <a:ext cx="64008" cy="1417320"/>
          </a:xfrm>
          <a:prstGeom prst="rect">
            <a:avLst/>
          </a:prstGeom>
          <a:solidFill>
            <a:srgbClr val="DD8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71416" y="1700784"/>
            <a:ext cx="1307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판정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1416" y="2121408"/>
            <a:ext cx="13075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64696E"/>
                </a:solidFill>
                <a:latin typeface="Malgun Gothic"/>
              </a:rPr>
              <a:t>정답 트리와 비교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34456" y="2240280"/>
            <a:ext cx="256032" cy="0"/>
          </a:xfrm>
          <a:prstGeom prst="line">
            <a:avLst/>
          </a:prstGeom>
          <a:ln w="19050">
            <a:solidFill>
              <a:srgbClr val="DD84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27064" y="1554480"/>
            <a:ext cx="162763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27064" y="1554480"/>
            <a:ext cx="64008" cy="1417320"/>
          </a:xfrm>
          <a:prstGeom prst="rect">
            <a:avLst/>
          </a:prstGeom>
          <a:solidFill>
            <a:srgbClr val="6C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9944" y="1700784"/>
            <a:ext cx="1307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피드백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2121408"/>
            <a:ext cx="13075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64696E"/>
                </a:solidFill>
                <a:latin typeface="Malgun Gothic"/>
              </a:rPr>
              <a:t>정답/오답/계속 진행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72984" y="2240280"/>
            <a:ext cx="256032" cy="0"/>
          </a:xfrm>
          <a:prstGeom prst="line">
            <a:avLst/>
          </a:prstGeom>
          <a:ln w="19050">
            <a:solidFill>
              <a:srgbClr val="6C4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165592" y="1554480"/>
            <a:ext cx="162763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65592" y="1554480"/>
            <a:ext cx="64008" cy="1417320"/>
          </a:xfrm>
          <a:prstGeom prst="rect">
            <a:avLst/>
          </a:prstGeom>
          <a:solidFill>
            <a:srgbClr val="BE3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48471" y="1700784"/>
            <a:ext cx="1307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해설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8471" y="2121408"/>
            <a:ext cx="13075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64696E"/>
                </a:solidFill>
                <a:latin typeface="Malgun Gothic"/>
              </a:rPr>
              <a:t>완료 후 해설 제공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811512" y="2240280"/>
            <a:ext cx="256032" cy="0"/>
          </a:xfrm>
          <a:prstGeom prst="line">
            <a:avLst/>
          </a:prstGeom>
          <a:ln w="19050">
            <a:solidFill>
              <a:srgbClr val="BE3F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104120" y="1554480"/>
            <a:ext cx="162763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104120" y="1554480"/>
            <a:ext cx="64008" cy="1417320"/>
          </a:xfrm>
          <a:prstGeom prst="rect">
            <a:avLst/>
          </a:prstGeom>
          <a:solidFill>
            <a:srgbClr val="16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287000" y="1700784"/>
            <a:ext cx="1307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기록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7000" y="2121408"/>
            <a:ext cx="13075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64696E"/>
                </a:solidFill>
                <a:latin typeface="Malgun Gothic"/>
              </a:rPr>
              <a:t>점수·시간·힌트 저장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342900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85800" y="3429000"/>
            <a:ext cx="64008" cy="1600200"/>
          </a:xfrm>
          <a:prstGeom prst="rect">
            <a:avLst/>
          </a:prstGeom>
          <a:solidFill>
            <a:srgbClr val="3F7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8680" y="357530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정답 처리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3995928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64696E"/>
                </a:solidFill>
                <a:latin typeface="Malgun Gothic"/>
              </a:rPr>
              <a:t>정답 수순 완료 → 성공 애니메이션</a:t>
            </a:r>
            <a:br/>
            <a:r>
              <a:t>점수 지급 → 해설 → 다음 문제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89120" y="342900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389120" y="3429000"/>
            <a:ext cx="64008" cy="1600200"/>
          </a:xfrm>
          <a:prstGeom prst="rect">
            <a:avLst/>
          </a:prstGeom>
          <a:solidFill>
            <a:srgbClr val="BE3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0" y="357530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오답 처리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3995928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64696E"/>
                </a:solidFill>
                <a:latin typeface="Malgun Gothic"/>
              </a:rPr>
              <a:t>틀린 착수 표시 → 재도전</a:t>
            </a:r>
            <a:br/>
            <a:r>
              <a:t>설정에 따라 즉시 해설 또는 힌트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92440" y="342900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092440" y="3429000"/>
            <a:ext cx="64008" cy="1600200"/>
          </a:xfrm>
          <a:prstGeom prst="rect">
            <a:avLst/>
          </a:prstGeom>
          <a:solidFill>
            <a:srgbClr val="DD8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75319" y="357530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힌트 처리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19" y="3995928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64696E"/>
                </a:solidFill>
                <a:latin typeface="Malgun Gothic"/>
              </a:rPr>
              <a:t>첫 수 위치 범위 표시 / 핵심 개념 안내</a:t>
            </a:r>
            <a:br/>
            <a:r>
              <a:t>힌트 사용 시 점수 감점 가능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5532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2D48"/>
                </a:solidFill>
                <a:latin typeface="Malgun Gothic"/>
              </a:rPr>
              <a:t>권장: 정답을 단일 좌표가 아니라 ‘수순 트리’로 저장해 여러 정답과 상대 응수를 처리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65196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696E"/>
                </a:solidFill>
                <a:latin typeface="Malgun Gothic"/>
              </a:rPr>
              <a:t>바둑 타고 한국사 여행 · 바둑문제 시스템 기획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62D48"/>
                </a:solidFill>
                <a:latin typeface="Malgun Gothic"/>
              </a:rPr>
              <a:t>6. 커리큘럼 연결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96E"/>
                </a:solidFill>
                <a:latin typeface="Malgun Gothic"/>
              </a:rPr>
              <a:t>입문·기초·기본 총 18권, 144강의 문제은행으로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4696E"/>
                </a:solidFill>
                <a:latin typeface="Malgun Gothic"/>
              </a:rP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33832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64008" cy="2331720"/>
          </a:xfrm>
          <a:prstGeom prst="rect">
            <a:avLst/>
          </a:prstGeom>
          <a:solidFill>
            <a:srgbClr val="3F7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00784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입문 1~6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306324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64696E"/>
                </a:solidFill>
                <a:latin typeface="Malgun Gothic"/>
              </a:rPr>
              <a:t>6권 × 각 8강 = 48강</a:t>
            </a:r>
            <a:br/>
            <a:r>
              <a:t>9줄 중심</a:t>
            </a:r>
            <a:br/>
            <a:r>
              <a:t>규칙·따내기·활로·연결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79" y="1554480"/>
            <a:ext cx="33832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26279" y="1554480"/>
            <a:ext cx="64008" cy="2331720"/>
          </a:xfrm>
          <a:prstGeom prst="rect">
            <a:avLst/>
          </a:prstGeom>
          <a:solidFill>
            <a:srgbClr val="31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59" y="1700784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기초 1~6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2121408"/>
            <a:ext cx="306324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64696E"/>
                </a:solidFill>
                <a:latin typeface="Malgun Gothic"/>
              </a:rPr>
              <a:t>6권 × 각 8강 = 48강</a:t>
            </a:r>
            <a:br/>
            <a:r>
              <a:t>9줄→13줄</a:t>
            </a:r>
            <a:br/>
            <a:r>
              <a:t>사활·수읽기·맥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19" y="1554480"/>
            <a:ext cx="33832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75319" y="1554480"/>
            <a:ext cx="64008" cy="2331720"/>
          </a:xfrm>
          <a:prstGeom prst="rect">
            <a:avLst/>
          </a:prstGeom>
          <a:solidFill>
            <a:srgbClr val="6C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199" y="1700784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기본 1~6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199" y="2121408"/>
            <a:ext cx="306324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64696E"/>
                </a:solidFill>
                <a:latin typeface="Malgun Gothic"/>
              </a:rPr>
              <a:t>6권 × 각 8강 = 48강</a:t>
            </a:r>
            <a:br/>
            <a:r>
              <a:t>13줄→19줄</a:t>
            </a:r>
            <a:br/>
            <a:r>
              <a:t>포석·정석·실전 응용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297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62D48"/>
                </a:solidFill>
                <a:latin typeface="Malgun Gothic"/>
              </a:rPr>
              <a:t>강의 1개당 권장 문제 구성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7548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Malgun Gothic"/>
              </a:rPr>
              <a:t>개념 확인 3문제  +  반복 훈련 5문제  +  도전 문제 2문제  =  강의당 약 10문제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949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96E"/>
                </a:solidFill>
                <a:latin typeface="Malgun Gothic"/>
              </a:rPr>
              <a:t>144강 × 10문제 기준 약 1,440문제 규모의 문제은행으로 성장 가능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5196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696E"/>
                </a:solidFill>
                <a:latin typeface="Malgun Gothic"/>
              </a:rPr>
              <a:t>바둑 타고 한국사 여행 · 바둑문제 시스템 기획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62D48"/>
                </a:solidFill>
                <a:latin typeface="Malgun Gothic"/>
              </a:rPr>
              <a:t>7. 관리자 문제등록 플로차트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96E"/>
                </a:solidFill>
                <a:latin typeface="Malgun Gothic"/>
              </a:rPr>
              <a:t>등록부터 공개 후 통계 확인까지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4696E"/>
                </a:solidFill>
                <a:latin typeface="Malgun Gothic"/>
              </a:rP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423160"/>
            <a:ext cx="14173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2423160"/>
            <a:ext cx="64008" cy="960120"/>
          </a:xfrm>
          <a:prstGeom prst="rect">
            <a:avLst/>
          </a:prstGeom>
          <a:solidFill>
            <a:srgbClr val="3F7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256946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문제 관리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48840" y="2423160"/>
            <a:ext cx="1325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148840" y="2423160"/>
            <a:ext cx="64008" cy="960120"/>
          </a:xfrm>
          <a:prstGeom prst="rect">
            <a:avLst/>
          </a:prstGeom>
          <a:solidFill>
            <a:srgbClr val="31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31720" y="256946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새 문제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1417320"/>
            <a:ext cx="14173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703320" y="1417320"/>
            <a:ext cx="64008" cy="960120"/>
          </a:xfrm>
          <a:prstGeom prst="rect">
            <a:avLst/>
          </a:prstGeom>
          <a:solidFill>
            <a:srgbClr val="C49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86200" y="156362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기본정보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03320" y="3337560"/>
            <a:ext cx="14173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703320" y="3337560"/>
            <a:ext cx="64008" cy="960120"/>
          </a:xfrm>
          <a:prstGeom prst="rect">
            <a:avLst/>
          </a:prstGeom>
          <a:solidFill>
            <a:srgbClr val="C49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86200" y="348386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판 입력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1417320"/>
            <a:ext cx="14173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0" y="1417320"/>
            <a:ext cx="64008" cy="960120"/>
          </a:xfrm>
          <a:prstGeom prst="rect">
            <a:avLst/>
          </a:prstGeom>
          <a:solidFill>
            <a:srgbClr val="6C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0" y="156362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정답수순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3337560"/>
            <a:ext cx="14173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0" y="3337560"/>
            <a:ext cx="64008" cy="960120"/>
          </a:xfrm>
          <a:prstGeom prst="rect">
            <a:avLst/>
          </a:prstGeom>
          <a:solidFill>
            <a:srgbClr val="6C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0" y="348386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힌트·해설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2423160"/>
            <a:ext cx="14173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0" y="2423160"/>
            <a:ext cx="64008" cy="960120"/>
          </a:xfrm>
          <a:prstGeom prst="rect">
            <a:avLst/>
          </a:prstGeom>
          <a:solidFill>
            <a:srgbClr val="DD8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79" y="256946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미리보기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2423160"/>
            <a:ext cx="1143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006840" y="2423160"/>
            <a:ext cx="64008" cy="960120"/>
          </a:xfrm>
          <a:prstGeom prst="rect">
            <a:avLst/>
          </a:prstGeom>
          <a:solidFill>
            <a:srgbClr val="BE3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89719" y="256946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검수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78440" y="1600200"/>
            <a:ext cx="1143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378440" y="1600200"/>
            <a:ext cx="64008" cy="960120"/>
          </a:xfrm>
          <a:prstGeom prst="rect">
            <a:avLst/>
          </a:prstGeom>
          <a:solidFill>
            <a:srgbClr val="3F7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561319" y="174650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게시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78440" y="3337560"/>
            <a:ext cx="1143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378440" y="3337560"/>
            <a:ext cx="64008" cy="960120"/>
          </a:xfrm>
          <a:prstGeom prst="rect">
            <a:avLst/>
          </a:prstGeom>
          <a:solidFill>
            <a:srgbClr val="646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561319" y="348386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수정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920240" y="2907792"/>
            <a:ext cx="228600" cy="0"/>
          </a:xfrm>
          <a:prstGeom prst="line">
            <a:avLst/>
          </a:prstGeom>
          <a:ln w="19050">
            <a:solidFill>
              <a:srgbClr val="646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474720" y="1901952"/>
            <a:ext cx="228600" cy="1005840"/>
          </a:xfrm>
          <a:prstGeom prst="line">
            <a:avLst/>
          </a:prstGeom>
          <a:ln w="19050">
            <a:solidFill>
              <a:srgbClr val="646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474720" y="2907792"/>
            <a:ext cx="228600" cy="914399"/>
          </a:xfrm>
          <a:prstGeom prst="line">
            <a:avLst/>
          </a:prstGeom>
          <a:ln w="19050">
            <a:solidFill>
              <a:srgbClr val="646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120640" y="1901952"/>
            <a:ext cx="365760" cy="0"/>
          </a:xfrm>
          <a:prstGeom prst="line">
            <a:avLst/>
          </a:prstGeom>
          <a:ln w="19050">
            <a:solidFill>
              <a:srgbClr val="646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120640" y="3822191"/>
            <a:ext cx="365760" cy="0"/>
          </a:xfrm>
          <a:prstGeom prst="line">
            <a:avLst/>
          </a:prstGeom>
          <a:ln w="19050">
            <a:solidFill>
              <a:srgbClr val="646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903720" y="1901952"/>
            <a:ext cx="411480" cy="1005840"/>
          </a:xfrm>
          <a:prstGeom prst="line">
            <a:avLst/>
          </a:prstGeom>
          <a:ln w="19050">
            <a:solidFill>
              <a:srgbClr val="646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6903720" y="2907792"/>
            <a:ext cx="411480" cy="914399"/>
          </a:xfrm>
          <a:prstGeom prst="line">
            <a:avLst/>
          </a:prstGeom>
          <a:ln w="19050">
            <a:solidFill>
              <a:srgbClr val="646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732520" y="2907792"/>
            <a:ext cx="274320" cy="0"/>
          </a:xfrm>
          <a:prstGeom prst="line">
            <a:avLst/>
          </a:prstGeom>
          <a:ln w="19050">
            <a:solidFill>
              <a:srgbClr val="646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0149840" y="2084831"/>
            <a:ext cx="228600" cy="822961"/>
          </a:xfrm>
          <a:prstGeom prst="line">
            <a:avLst/>
          </a:prstGeom>
          <a:ln w="19050">
            <a:solidFill>
              <a:srgbClr val="646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149840" y="2907792"/>
            <a:ext cx="228600" cy="914399"/>
          </a:xfrm>
          <a:prstGeom prst="line">
            <a:avLst/>
          </a:prstGeom>
          <a:ln w="19050">
            <a:solidFill>
              <a:srgbClr val="646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31520" y="50749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2D48"/>
                </a:solidFill>
                <a:latin typeface="Malgun Gothic"/>
              </a:rPr>
              <a:t>검수 체크: 판 크기 · 착수 차례 · 정답 수순 · 변화도 · 해설 · 교재/강의 연결 · 모바일 표시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5196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696E"/>
                </a:solidFill>
                <a:latin typeface="Malgun Gothic"/>
              </a:rPr>
              <a:t>바둑 타고 한국사 여행 · 바둑문제 시스템 기획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62D48"/>
                </a:solidFill>
                <a:latin typeface="Malgun Gothic"/>
              </a:rPr>
              <a:t>8. 유저 문제풀이 플로차트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96E"/>
                </a:solidFill>
                <a:latin typeface="Malgun Gothic"/>
              </a:rPr>
              <a:t>과정 선택 → 문제 풀이 → 결과 → 복습으로 이어지는 학습 루프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4696E"/>
                </a:solidFill>
                <a:latin typeface="Malgun Gothic"/>
              </a:rP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423160"/>
            <a:ext cx="1143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" name="Rectangle 5"/>
          <p:cNvSpPr/>
          <p:nvPr/>
        </p:nvSpPr>
        <p:spPr>
          <a:xfrm>
            <a:off x="502920" y="2423160"/>
            <a:ext cx="64008" cy="914400"/>
          </a:xfrm>
          <a:prstGeom prst="rect">
            <a:avLst/>
          </a:prstGeom>
          <a:solidFill>
            <a:srgbClr val="16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" name="TextBox 6"/>
          <p:cNvSpPr txBox="1"/>
          <p:nvPr/>
        </p:nvSpPr>
        <p:spPr>
          <a:xfrm>
            <a:off x="685800" y="256946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82828"/>
                </a:solidFill>
                <a:latin typeface="Malgun Gothic"/>
              </a:rPr>
              <a:t>로그인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74519" y="2423160"/>
            <a:ext cx="1325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9" name="Rectangle 8"/>
          <p:cNvSpPr/>
          <p:nvPr/>
        </p:nvSpPr>
        <p:spPr>
          <a:xfrm>
            <a:off x="1874519" y="2423160"/>
            <a:ext cx="64008" cy="914400"/>
          </a:xfrm>
          <a:prstGeom prst="rect">
            <a:avLst/>
          </a:prstGeom>
          <a:solidFill>
            <a:srgbClr val="3F7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0" name="TextBox 9"/>
          <p:cNvSpPr txBox="1"/>
          <p:nvPr/>
        </p:nvSpPr>
        <p:spPr>
          <a:xfrm>
            <a:off x="2057400" y="256946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82828"/>
                </a:solidFill>
                <a:latin typeface="Malgun Gothic"/>
              </a:rPr>
              <a:t>과정 선택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423160"/>
            <a:ext cx="1325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" name="Rectangle 11"/>
          <p:cNvSpPr/>
          <p:nvPr/>
        </p:nvSpPr>
        <p:spPr>
          <a:xfrm>
            <a:off x="3429000" y="2423160"/>
            <a:ext cx="64008" cy="914400"/>
          </a:xfrm>
          <a:prstGeom prst="rect">
            <a:avLst/>
          </a:prstGeom>
          <a:solidFill>
            <a:srgbClr val="31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3" name="TextBox 12"/>
          <p:cNvSpPr txBox="1"/>
          <p:nvPr/>
        </p:nvSpPr>
        <p:spPr>
          <a:xfrm>
            <a:off x="3611880" y="2569464"/>
            <a:ext cx="1005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82828"/>
                </a:solidFill>
                <a:latin typeface="Malgun Gothic"/>
              </a:rPr>
              <a:t>권/강 선택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80" y="2423160"/>
            <a:ext cx="1325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5" name="Rectangle 14"/>
          <p:cNvSpPr/>
          <p:nvPr/>
        </p:nvSpPr>
        <p:spPr>
          <a:xfrm>
            <a:off x="4983480" y="2423160"/>
            <a:ext cx="64008" cy="914400"/>
          </a:xfrm>
          <a:prstGeom prst="rect">
            <a:avLst/>
          </a:prstGeom>
          <a:solidFill>
            <a:srgbClr val="C49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6" name="TextBox 15"/>
          <p:cNvSpPr txBox="1"/>
          <p:nvPr/>
        </p:nvSpPr>
        <p:spPr>
          <a:xfrm>
            <a:off x="5166360" y="256946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82828"/>
                </a:solidFill>
                <a:latin typeface="Malgun Gothic"/>
              </a:rPr>
              <a:t>문제 로드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2423160"/>
            <a:ext cx="10515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8" name="Rectangle 17"/>
          <p:cNvSpPr/>
          <p:nvPr/>
        </p:nvSpPr>
        <p:spPr>
          <a:xfrm>
            <a:off x="6537960" y="2423160"/>
            <a:ext cx="64008" cy="914400"/>
          </a:xfrm>
          <a:prstGeom prst="rect">
            <a:avLst/>
          </a:prstGeom>
          <a:solidFill>
            <a:srgbClr val="DD8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9" name="TextBox 18"/>
          <p:cNvSpPr txBox="1"/>
          <p:nvPr/>
        </p:nvSpPr>
        <p:spPr>
          <a:xfrm>
            <a:off x="6720840" y="2569464"/>
            <a:ext cx="731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82828"/>
                </a:solidFill>
                <a:latin typeface="Malgun Gothic"/>
              </a:rPr>
              <a:t>착수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2423160"/>
            <a:ext cx="1325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1" name="Rectangle 20"/>
          <p:cNvSpPr/>
          <p:nvPr/>
        </p:nvSpPr>
        <p:spPr>
          <a:xfrm>
            <a:off x="7818120" y="2423160"/>
            <a:ext cx="64008" cy="914400"/>
          </a:xfrm>
          <a:prstGeom prst="rect">
            <a:avLst/>
          </a:prstGeom>
          <a:solidFill>
            <a:srgbClr val="6C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2" name="TextBox 21"/>
          <p:cNvSpPr txBox="1"/>
          <p:nvPr/>
        </p:nvSpPr>
        <p:spPr>
          <a:xfrm>
            <a:off x="8001000" y="256946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82828"/>
                </a:solidFill>
                <a:latin typeface="Malgun Gothic"/>
              </a:rPr>
              <a:t>자동 판정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72600" y="2423160"/>
            <a:ext cx="1143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4" name="Rectangle 23"/>
          <p:cNvSpPr/>
          <p:nvPr/>
        </p:nvSpPr>
        <p:spPr>
          <a:xfrm>
            <a:off x="9372600" y="2423160"/>
            <a:ext cx="64008" cy="914400"/>
          </a:xfrm>
          <a:prstGeom prst="rect">
            <a:avLst/>
          </a:prstGeom>
          <a:solidFill>
            <a:srgbClr val="BE3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5" name="TextBox 24"/>
          <p:cNvSpPr txBox="1"/>
          <p:nvPr/>
        </p:nvSpPr>
        <p:spPr>
          <a:xfrm>
            <a:off x="9555480" y="256946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82828"/>
                </a:solidFill>
                <a:latin typeface="Malgun Gothic"/>
              </a:rPr>
              <a:t>완료?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744200" y="1508760"/>
            <a:ext cx="10058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7" name="Rectangle 26"/>
          <p:cNvSpPr/>
          <p:nvPr/>
        </p:nvSpPr>
        <p:spPr>
          <a:xfrm>
            <a:off x="10744200" y="1508760"/>
            <a:ext cx="64008" cy="914400"/>
          </a:xfrm>
          <a:prstGeom prst="rect">
            <a:avLst/>
          </a:prstGeom>
          <a:solidFill>
            <a:srgbClr val="3F7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8" name="TextBox 27"/>
          <p:cNvSpPr txBox="1"/>
          <p:nvPr/>
        </p:nvSpPr>
        <p:spPr>
          <a:xfrm>
            <a:off x="10927080" y="1655063"/>
            <a:ext cx="685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82828"/>
                </a:solidFill>
                <a:latin typeface="Malgun Gothic"/>
              </a:rPr>
              <a:t>다음 문제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61320" y="3429000"/>
            <a:ext cx="1188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0" name="Rectangle 29"/>
          <p:cNvSpPr/>
          <p:nvPr/>
        </p:nvSpPr>
        <p:spPr>
          <a:xfrm>
            <a:off x="10561320" y="3429000"/>
            <a:ext cx="64008" cy="914400"/>
          </a:xfrm>
          <a:prstGeom prst="rect">
            <a:avLst/>
          </a:prstGeom>
          <a:solidFill>
            <a:srgbClr val="DD8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1" name="TextBox 30"/>
          <p:cNvSpPr txBox="1"/>
          <p:nvPr/>
        </p:nvSpPr>
        <p:spPr>
          <a:xfrm>
            <a:off x="10744200" y="3575304"/>
            <a:ext cx="868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82828"/>
                </a:solidFill>
                <a:latin typeface="Malgun Gothic"/>
              </a:rPr>
              <a:t>힌트/재도전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645920" y="2880360"/>
            <a:ext cx="228599" cy="0"/>
          </a:xfrm>
          <a:prstGeom prst="line">
            <a:avLst/>
          </a:prstGeom>
          <a:ln w="19050">
            <a:solidFill>
              <a:srgbClr val="646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00400" y="2880360"/>
            <a:ext cx="228600" cy="0"/>
          </a:xfrm>
          <a:prstGeom prst="line">
            <a:avLst/>
          </a:prstGeom>
          <a:ln w="19050">
            <a:solidFill>
              <a:srgbClr val="646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754880" y="2880360"/>
            <a:ext cx="228600" cy="0"/>
          </a:xfrm>
          <a:prstGeom prst="line">
            <a:avLst/>
          </a:prstGeom>
          <a:ln w="19050">
            <a:solidFill>
              <a:srgbClr val="646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309360" y="2880360"/>
            <a:ext cx="228600" cy="0"/>
          </a:xfrm>
          <a:prstGeom prst="line">
            <a:avLst/>
          </a:prstGeom>
          <a:ln w="19050">
            <a:solidFill>
              <a:srgbClr val="646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589520" y="2880360"/>
            <a:ext cx="228600" cy="0"/>
          </a:xfrm>
          <a:prstGeom prst="line">
            <a:avLst/>
          </a:prstGeom>
          <a:ln w="19050">
            <a:solidFill>
              <a:srgbClr val="646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144000" y="2880360"/>
            <a:ext cx="228600" cy="0"/>
          </a:xfrm>
          <a:prstGeom prst="line">
            <a:avLst/>
          </a:prstGeom>
          <a:ln w="19050">
            <a:solidFill>
              <a:srgbClr val="646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0515600" y="1965960"/>
            <a:ext cx="228600" cy="914400"/>
          </a:xfrm>
          <a:prstGeom prst="line">
            <a:avLst/>
          </a:prstGeom>
          <a:ln w="19050">
            <a:solidFill>
              <a:srgbClr val="646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0515600" y="2880360"/>
            <a:ext cx="45720" cy="1005840"/>
          </a:xfrm>
          <a:prstGeom prst="line">
            <a:avLst/>
          </a:prstGeom>
          <a:ln w="19050">
            <a:solidFill>
              <a:srgbClr val="646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85800" y="4800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2D48"/>
                </a:solidFill>
                <a:latin typeface="Malgun Gothic"/>
              </a:rPr>
              <a:t>완료 후 저장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4773168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96E"/>
                </a:solidFill>
                <a:latin typeface="Malgun Gothic"/>
              </a:rPr>
              <a:t>정답 여부 · 시도 횟수 · 풀이시간 · 힌트 사용 · 획득점수 → 나의 학습기록 / 오답노트 / 추천문제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5196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696E"/>
                </a:solidFill>
                <a:latin typeface="Malgun Gothic"/>
              </a:rPr>
              <a:t>바둑 타고 한국사 여행 · 바둑문제 시스템 기획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62D48"/>
                </a:solidFill>
                <a:latin typeface="Malgun Gothic"/>
              </a:rPr>
              <a:t>9. 전체 시스템 연동 플로차트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96E"/>
                </a:solidFill>
                <a:latin typeface="Malgun Gothic"/>
              </a:rPr>
              <a:t>관리자 CMS와 학습자 화면이 하나의 문제 DB를 공유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4696E"/>
                </a:solidFill>
                <a:latin typeface="Malgun Gothic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21031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2057400"/>
            <a:ext cx="64008" cy="1920240"/>
          </a:xfrm>
          <a:prstGeom prst="rect">
            <a:avLst/>
          </a:prstGeom>
          <a:solidFill>
            <a:srgbClr val="16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2203704"/>
            <a:ext cx="1783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관리자 CMS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24328"/>
            <a:ext cx="17830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64696E"/>
                </a:solidFill>
                <a:latin typeface="Malgun Gothic"/>
              </a:rPr>
              <a:t>문제 작성</a:t>
            </a:r>
            <a:br/>
            <a:r>
              <a:t>강의/교재 연결</a:t>
            </a:r>
            <a:br/>
            <a:r>
              <a:t>게시·수정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2057400"/>
            <a:ext cx="21031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37560" y="2057400"/>
            <a:ext cx="64008" cy="1920240"/>
          </a:xfrm>
          <a:prstGeom prst="rect">
            <a:avLst/>
          </a:prstGeom>
          <a:solidFill>
            <a:srgbClr val="C49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0440" y="2203704"/>
            <a:ext cx="1783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바둑문제 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624328"/>
            <a:ext cx="17830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64696E"/>
                </a:solidFill>
                <a:latin typeface="Malgun Gothic"/>
              </a:rPr>
              <a:t>9·13·19줄</a:t>
            </a:r>
            <a:br/>
            <a:r>
              <a:t>정답 수순 트리</a:t>
            </a:r>
            <a:br/>
            <a:r>
              <a:t>힌트·해설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143000"/>
            <a:ext cx="21488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35040" y="1143000"/>
            <a:ext cx="64008" cy="1645920"/>
          </a:xfrm>
          <a:prstGeom prst="rect">
            <a:avLst/>
          </a:prstGeom>
          <a:solidFill>
            <a:srgbClr val="3F7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128930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유저 문제풀이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709928"/>
            <a:ext cx="1828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64696E"/>
                </a:solidFill>
                <a:latin typeface="Malgun Gothic"/>
              </a:rPr>
              <a:t>문제 로드</a:t>
            </a:r>
            <a:br/>
            <a:r>
              <a:t>착수·채점</a:t>
            </a:r>
            <a:br/>
            <a:r>
              <a:t>결과 표시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3703320"/>
            <a:ext cx="21488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35040" y="3703320"/>
            <a:ext cx="64008" cy="1645920"/>
          </a:xfrm>
          <a:prstGeom prst="rect">
            <a:avLst/>
          </a:prstGeom>
          <a:solidFill>
            <a:srgbClr val="31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38496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강의/교재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270248"/>
            <a:ext cx="1828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64696E"/>
                </a:solidFill>
                <a:latin typeface="Malgun Gothic"/>
              </a:rPr>
              <a:t>입문·기초·기본</a:t>
            </a:r>
            <a:br/>
            <a:r>
              <a:t>QR/강의영상</a:t>
            </a:r>
            <a:br/>
            <a:r>
              <a:t>연계 문제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0" y="2057400"/>
            <a:ext cx="21488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778240" y="2057400"/>
            <a:ext cx="64008" cy="1920240"/>
          </a:xfrm>
          <a:prstGeom prst="rect">
            <a:avLst/>
          </a:prstGeom>
          <a:solidFill>
            <a:srgbClr val="6C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61119" y="220370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학습기록 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19" y="2624328"/>
            <a:ext cx="1828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64696E"/>
                </a:solidFill>
                <a:latin typeface="Malgun Gothic"/>
              </a:rPr>
              <a:t>정답률</a:t>
            </a:r>
            <a:br/>
            <a:r>
              <a:t>풀이시간</a:t>
            </a:r>
            <a:br/>
            <a:r>
              <a:t>오답·힌트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743200" y="3017520"/>
            <a:ext cx="594360" cy="0"/>
          </a:xfrm>
          <a:prstGeom prst="line">
            <a:avLst/>
          </a:prstGeom>
          <a:ln w="19050">
            <a:solidFill>
              <a:srgbClr val="646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440680" y="1965960"/>
            <a:ext cx="594360" cy="777240"/>
          </a:xfrm>
          <a:prstGeom prst="line">
            <a:avLst/>
          </a:prstGeom>
          <a:ln w="19050">
            <a:solidFill>
              <a:srgbClr val="646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40680" y="3291840"/>
            <a:ext cx="594360" cy="1234440"/>
          </a:xfrm>
          <a:prstGeom prst="line">
            <a:avLst/>
          </a:prstGeom>
          <a:ln w="19050">
            <a:solidFill>
              <a:srgbClr val="646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183879" y="1965960"/>
            <a:ext cx="594361" cy="777240"/>
          </a:xfrm>
          <a:prstGeom prst="line">
            <a:avLst/>
          </a:prstGeom>
          <a:ln w="19050">
            <a:solidFill>
              <a:srgbClr val="646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183879" y="3291840"/>
            <a:ext cx="594361" cy="1234440"/>
          </a:xfrm>
          <a:prstGeom prst="line">
            <a:avLst/>
          </a:prstGeom>
          <a:ln w="19050">
            <a:solidFill>
              <a:srgbClr val="646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886200" y="5257800"/>
            <a:ext cx="43891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886200" y="5257800"/>
            <a:ext cx="64008" cy="685800"/>
          </a:xfrm>
          <a:prstGeom prst="rect">
            <a:avLst/>
          </a:prstGeom>
          <a:solidFill>
            <a:srgbClr val="BE3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069080" y="5404104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향후 확장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9080" y="5824728"/>
            <a:ext cx="40690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64696E"/>
                </a:solidFill>
                <a:latin typeface="Malgun Gothic"/>
              </a:rPr>
              <a:t>개인별 추천 · 난이도 자동 보정 · 반별 과제 · 성취도 리포트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5196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696E"/>
                </a:solidFill>
                <a:latin typeface="Malgun Gothic"/>
              </a:rPr>
              <a:t>바둑 타고 한국사 여행 · 바둑문제 시스템 기획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62D48"/>
                </a:solidFill>
                <a:latin typeface="Malgun Gothic"/>
              </a:rPr>
              <a:t>10. MVP 개발 우선순위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96E"/>
                </a:solidFill>
                <a:latin typeface="Malgun Gothic"/>
              </a:rPr>
              <a:t>처음부터 AI보다 ‘정확한 문제 입력·채점·기록’에 집중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4696E"/>
                </a:solidFill>
                <a:latin typeface="Malgun Gothic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63040"/>
            <a:ext cx="64008" cy="3566160"/>
          </a:xfrm>
          <a:prstGeom prst="rect">
            <a:avLst/>
          </a:prstGeom>
          <a:solidFill>
            <a:srgbClr val="3F7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0934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1차 · 필수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29968"/>
            <a:ext cx="310896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64696E"/>
                </a:solidFill>
                <a:latin typeface="Malgun Gothic"/>
              </a:rPr>
              <a:t>• 9/13/19줄 판 렌더링</a:t>
            </a:r>
            <a:br/>
            <a:r>
              <a:t>• 흑·백돌 입력/삭제</a:t>
            </a:r>
            <a:br/>
            <a:r>
              <a:t>• 정답 수순 등록</a:t>
            </a:r>
            <a:br/>
            <a:r>
              <a:t>• 유저 착수 기능</a:t>
            </a:r>
            <a:br/>
            <a:r>
              <a:t>• 자동채점</a:t>
            </a:r>
            <a:br/>
            <a:r>
              <a:t>• 힌트/해설</a:t>
            </a:r>
            <a:br/>
            <a:r>
              <a:t>• 공개/비공개</a:t>
            </a:r>
            <a:br/>
            <a:r>
              <a:t>• 기본 학습기록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463040"/>
            <a:ext cx="64008" cy="3566160"/>
          </a:xfrm>
          <a:prstGeom prst="rect">
            <a:avLst/>
          </a:prstGeom>
          <a:solidFill>
            <a:srgbClr val="31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60934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2차 · 운영 강화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29968"/>
            <a:ext cx="310896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64696E"/>
                </a:solidFill>
                <a:latin typeface="Malgun Gothic"/>
              </a:rPr>
              <a:t>• 복수 정답/변화도</a:t>
            </a:r>
            <a:br/>
            <a:r>
              <a:t>• 교재·강의 연결</a:t>
            </a:r>
            <a:br/>
            <a:r>
              <a:t>• 오답노트</a:t>
            </a:r>
            <a:br/>
            <a:r>
              <a:t>• 문제 검색/필터</a:t>
            </a:r>
            <a:br/>
            <a:r>
              <a:t>• 반별 과제</a:t>
            </a:r>
            <a:br/>
            <a:r>
              <a:t>• 관리자 통계</a:t>
            </a:r>
            <a:br/>
            <a:r>
              <a:t>• 즐겨찾기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6304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463040"/>
            <a:ext cx="64008" cy="3566160"/>
          </a:xfrm>
          <a:prstGeom prst="rect">
            <a:avLst/>
          </a:prstGeom>
          <a:solidFill>
            <a:srgbClr val="6C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19" y="160934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3차 · 고도화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2029968"/>
            <a:ext cx="310896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64696E"/>
                </a:solidFill>
                <a:latin typeface="Malgun Gothic"/>
              </a:rPr>
              <a:t>• 추천 문제</a:t>
            </a:r>
            <a:br/>
            <a:r>
              <a:t>• 난이도 자동 조정</a:t>
            </a:r>
            <a:br/>
            <a:r>
              <a:t>• SGF 가져오기/내보내기</a:t>
            </a:r>
            <a:br/>
            <a:r>
              <a:t>• 기보 기반 문제 생성 보조</a:t>
            </a:r>
            <a:br/>
            <a:r>
              <a:t>• 학부모 리포트</a:t>
            </a:r>
            <a:br/>
            <a:r>
              <a:t>• 학원별 관리자 권한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4864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E3F30"/>
                </a:solidFill>
                <a:latin typeface="Malgun Gothic"/>
              </a:rPr>
              <a:t>개발 검수에서 가장 중요한 항목: 좌표 정확성, 모바일 터치 오입력 방지, 수순 되돌리기, 복수정답 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96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696E"/>
                </a:solidFill>
                <a:latin typeface="Malgun Gothic"/>
              </a:rPr>
              <a:t>바둑 타고 한국사 여행 · 바둑문제 시스템 기획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D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05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algun Gothic"/>
              </a:rPr>
              <a:t>바둑문제 시스템의 핵심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7589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DC7D"/>
                </a:solidFill>
                <a:latin typeface="Malgun Gothic"/>
              </a:rPr>
              <a:t>관리자는 쉽게 만들고,</a:t>
            </a:r>
            <a:br/>
            <a:r>
              <a:t>학생은 판 위에서 직접 생각하고,</a:t>
            </a:r>
            <a:br/>
            <a:r>
              <a:t>시스템은 그 과정을 기록한다.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3886200"/>
            <a:ext cx="3246120" cy="1417320"/>
          </a:xfrm>
          <a:prstGeom prst="roundRect">
            <a:avLst/>
          </a:prstGeom>
          <a:solidFill>
            <a:srgbClr val="1F3952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77240" y="3886200"/>
            <a:ext cx="64008" cy="1417320"/>
          </a:xfrm>
          <a:prstGeom prst="rect">
            <a:avLst/>
          </a:prstGeom>
          <a:solidFill>
            <a:srgbClr val="3F7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0120" y="4032504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latin typeface="Malgun Gothic"/>
              </a:rPr>
              <a:t>관리자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453128"/>
            <a:ext cx="2926079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latin typeface="Malgun Gothic"/>
              </a:rPr>
              <a:t>빠른 문제 제작·검수·재사용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3886200"/>
            <a:ext cx="3246120" cy="1417320"/>
          </a:xfrm>
          <a:prstGeom prst="roundRect">
            <a:avLst/>
          </a:prstGeom>
          <a:solidFill>
            <a:srgbClr val="1F3952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34840" y="3886200"/>
            <a:ext cx="64008" cy="1417320"/>
          </a:xfrm>
          <a:prstGeom prst="rect">
            <a:avLst/>
          </a:prstGeom>
          <a:solidFill>
            <a:srgbClr val="31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17720" y="4032504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latin typeface="Malgun Gothic"/>
              </a:rPr>
              <a:t>학생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4453128"/>
            <a:ext cx="2926079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latin typeface="Malgun Gothic"/>
              </a:rPr>
              <a:t>9·13·19줄 단계별 실전 훈련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3886200"/>
            <a:ext cx="3246120" cy="1417320"/>
          </a:xfrm>
          <a:prstGeom prst="roundRect">
            <a:avLst/>
          </a:prstGeom>
          <a:solidFill>
            <a:srgbClr val="1F3952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092440" y="3886200"/>
            <a:ext cx="64008" cy="1417320"/>
          </a:xfrm>
          <a:prstGeom prst="rect">
            <a:avLst/>
          </a:prstGeom>
          <a:solidFill>
            <a:srgbClr val="6C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75319" y="4032504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latin typeface="Malgun Gothic"/>
              </a:rPr>
              <a:t>플랫폼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4453128"/>
            <a:ext cx="2926079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latin typeface="Malgun Gothic"/>
              </a:rPr>
              <a:t>144강 커리큘럼과 문제은행 연결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064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algun Gothic"/>
              </a:rPr>
              <a:t>다음 개발 산출물: 화면정의서 → DB/API 명세 → 클릭 가능한 프로토타입 → MVP 개발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62D48"/>
                </a:solidFill>
                <a:latin typeface="Malgun Gothic"/>
              </a:rPr>
              <a:t>11. 유저용 문제풀이 확대창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96E"/>
                </a:solidFill>
                <a:latin typeface="Malgun Gothic"/>
              </a:rPr>
              <a:t>작은 카드형 문제를 클릭하면 별도 창/모달로 크게 열어 집중해서 풀 수 있게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4696E"/>
                </a:solidFill>
                <a:latin typeface="Malgun Gothic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10896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64008" cy="4069080"/>
          </a:xfrm>
          <a:prstGeom prst="rect">
            <a:avLst/>
          </a:prstGeom>
          <a:solidFill>
            <a:srgbClr val="3F7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63624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기본 문제 카드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84248"/>
            <a:ext cx="2788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64696E"/>
                </a:solidFill>
                <a:latin typeface="Malgun Gothic"/>
              </a:rPr>
              <a:t>강의 페이지나 미션 목록에서는</a:t>
            </a:r>
            <a:br/>
            <a:r>
              <a:t>작은 카드 형태로 문제를 노출</a:t>
            </a:r>
            <a:br/>
            <a:br/>
            <a:r>
              <a:t>• 문제 제목</a:t>
            </a:r>
            <a:br/>
            <a:r>
              <a:t>• 난이도 / 줄 수</a:t>
            </a:r>
            <a:br/>
            <a:r>
              <a:t>• 썸네일 바둑판</a:t>
            </a:r>
            <a:br/>
            <a:r>
              <a:t>• 시작하기 버튼</a:t>
            </a:r>
            <a:br/>
            <a:br/>
            <a:r>
              <a:t>클릭 시 확대창 실행</a:t>
            </a:r>
          </a:p>
        </p:txBody>
      </p:sp>
      <p:sp>
        <p:nvSpPr>
          <p:cNvPr id="9" name="Rectangle 8"/>
          <p:cNvSpPr/>
          <p:nvPr/>
        </p:nvSpPr>
        <p:spPr>
          <a:xfrm>
            <a:off x="1234440" y="2880360"/>
            <a:ext cx="1828800" cy="1508760"/>
          </a:xfrm>
          <a:prstGeom prst="rect">
            <a:avLst/>
          </a:prstGeom>
          <a:solidFill>
            <a:srgbClr val="C4914D"/>
          </a:solidFill>
          <a:ln>
            <a:solidFill>
              <a:srgbClr val="3F7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40" y="340156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9·13·19줄</a:t>
            </a:r>
            <a:br/>
            <a:r>
              <a:t>미리보기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86200" y="3429000"/>
            <a:ext cx="731520" cy="0"/>
          </a:xfrm>
          <a:prstGeom prst="line">
            <a:avLst/>
          </a:prstGeom>
          <a:ln w="19050">
            <a:solidFill>
              <a:srgbClr val="DD84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97420" y="2944368"/>
            <a:ext cx="914400" cy="320040"/>
          </a:xfrm>
          <a:prstGeom prst="roundRect">
            <a:avLst/>
          </a:prstGeom>
          <a:solidFill>
            <a:srgbClr val="DD8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97420" y="29809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클릭 / 터치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1325880"/>
            <a:ext cx="67208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31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74920" y="15727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62D48"/>
                </a:solidFill>
                <a:latin typeface="Malgun Gothic"/>
              </a:rPr>
              <a:t>확대 문제풀이 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155448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4696E"/>
                </a:solidFill>
                <a:latin typeface="Malgun Gothic"/>
              </a:rPr>
              <a:t>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66360" y="2103120"/>
            <a:ext cx="2971800" cy="2834640"/>
          </a:xfrm>
          <a:prstGeom prst="rect">
            <a:avLst/>
          </a:prstGeom>
          <a:solidFill>
            <a:srgbClr val="C4914D"/>
          </a:solidFill>
          <a:ln>
            <a:solidFill>
              <a:srgbClr val="31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66360" y="3063240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algun Gothic"/>
              </a:rPr>
              <a:t>큰 바둑판 영역</a:t>
            </a:r>
            <a:br/>
            <a:r>
              <a:t>9줄 / 13줄 / 19줄</a:t>
            </a:r>
            <a:br/>
            <a:r>
              <a:t>화면 크기에 맞춰 자동 확대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66760" y="2057400"/>
            <a:ext cx="27889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366760" y="2057400"/>
            <a:ext cx="64008" cy="2926080"/>
          </a:xfrm>
          <a:prstGeom prst="rect">
            <a:avLst/>
          </a:prstGeom>
          <a:solidFill>
            <a:srgbClr val="31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49640" y="2203704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풀이 패널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2624328"/>
            <a:ext cx="2468879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64696E"/>
                </a:solidFill>
                <a:latin typeface="Malgun Gothic"/>
              </a:rPr>
              <a:t>• 문제 설명</a:t>
            </a:r>
            <a:br/>
            <a:r>
              <a:t>• 흑/백 차례 표시</a:t>
            </a:r>
            <a:br/>
            <a:r>
              <a:t>• 힌트 보기</a:t>
            </a:r>
            <a:br/>
            <a:r>
              <a:t>• 정답 확인</a:t>
            </a:r>
            <a:br/>
            <a:r>
              <a:t>• 이전/다음 문제</a:t>
            </a:r>
            <a:br/>
            <a:r>
              <a:t>• 확대/축소</a:t>
            </a:r>
            <a:br/>
            <a:r>
              <a:t>• 전체화면 선택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5166360"/>
            <a:ext cx="1097280" cy="320040"/>
          </a:xfrm>
          <a:prstGeom prst="roundRect">
            <a:avLst/>
          </a:prstGeom>
          <a:solidFill>
            <a:srgbClr val="3F7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0" y="520293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정답 확인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21240" y="5166360"/>
            <a:ext cx="1097280" cy="320040"/>
          </a:xfrm>
          <a:prstGeom prst="roundRect">
            <a:avLst/>
          </a:prstGeom>
          <a:solidFill>
            <a:srgbClr val="6C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921240" y="520293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다음 문제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532120"/>
            <a:ext cx="32918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8" name="Rectangle 27"/>
          <p:cNvSpPr/>
          <p:nvPr/>
        </p:nvSpPr>
        <p:spPr>
          <a:xfrm>
            <a:off x="731520" y="5532120"/>
            <a:ext cx="64008" cy="685800"/>
          </a:xfrm>
          <a:prstGeom prst="rect">
            <a:avLst/>
          </a:prstGeom>
          <a:solidFill>
            <a:srgbClr val="DD8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5678424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UX 기준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700" y="5961887"/>
            <a:ext cx="2971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dirty="0" err="1">
                <a:solidFill>
                  <a:srgbClr val="64696E"/>
                </a:solidFill>
                <a:latin typeface="Malgun Gothic"/>
              </a:rPr>
              <a:t>모바일에서는</a:t>
            </a:r>
            <a:r>
              <a:rPr sz="900" b="0" dirty="0">
                <a:solidFill>
                  <a:srgbClr val="64696E"/>
                </a:solidFill>
                <a:latin typeface="Malgun Gothic"/>
              </a:rPr>
              <a:t> </a:t>
            </a:r>
            <a:r>
              <a:rPr sz="900" b="0" dirty="0" err="1">
                <a:solidFill>
                  <a:srgbClr val="64696E"/>
                </a:solidFill>
                <a:latin typeface="Malgun Gothic"/>
              </a:rPr>
              <a:t>전체화면</a:t>
            </a:r>
            <a:r>
              <a:rPr sz="900" b="0" dirty="0">
                <a:solidFill>
                  <a:srgbClr val="64696E"/>
                </a:solidFill>
                <a:latin typeface="Malgun Gothic"/>
              </a:rPr>
              <a:t>, </a:t>
            </a:r>
            <a:r>
              <a:rPr sz="900" b="0" dirty="0" err="1">
                <a:solidFill>
                  <a:srgbClr val="64696E"/>
                </a:solidFill>
                <a:latin typeface="Malgun Gothic"/>
              </a:rPr>
              <a:t>PC에서는</a:t>
            </a:r>
            <a:r>
              <a:rPr sz="900" b="0" dirty="0">
                <a:solidFill>
                  <a:srgbClr val="64696E"/>
                </a:solidFill>
                <a:latin typeface="Malgun Gothic"/>
              </a:rPr>
              <a:t> </a:t>
            </a:r>
            <a:r>
              <a:rPr sz="900" b="0" dirty="0" err="1">
                <a:solidFill>
                  <a:srgbClr val="64696E"/>
                </a:solidFill>
                <a:latin typeface="Malgun Gothic"/>
              </a:rPr>
              <a:t>중앙</a:t>
            </a:r>
            <a:r>
              <a:rPr sz="900" b="0" dirty="0">
                <a:solidFill>
                  <a:srgbClr val="64696E"/>
                </a:solidFill>
                <a:latin typeface="Malgun Gothic"/>
              </a:rPr>
              <a:t> </a:t>
            </a:r>
            <a:r>
              <a:rPr sz="900" b="0" dirty="0" err="1">
                <a:solidFill>
                  <a:srgbClr val="64696E"/>
                </a:solidFill>
                <a:latin typeface="Malgun Gothic"/>
              </a:rPr>
              <a:t>모달</a:t>
            </a:r>
            <a:r>
              <a:rPr sz="900" b="0" dirty="0">
                <a:solidFill>
                  <a:srgbClr val="64696E"/>
                </a:solidFill>
                <a:latin typeface="Malgun Gothic"/>
              </a:rPr>
              <a:t> </a:t>
            </a:r>
            <a:r>
              <a:rPr sz="900" b="0" dirty="0" err="1">
                <a:solidFill>
                  <a:srgbClr val="64696E"/>
                </a:solidFill>
                <a:latin typeface="Malgun Gothic"/>
              </a:rPr>
              <a:t>우선</a:t>
            </a:r>
            <a:endParaRPr sz="900" b="0" dirty="0">
              <a:solidFill>
                <a:srgbClr val="64696E"/>
              </a:solidFill>
              <a:latin typeface="Malgun Gothic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251960" y="5532120"/>
            <a:ext cx="32918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251960" y="5532120"/>
            <a:ext cx="64008" cy="685800"/>
          </a:xfrm>
          <a:prstGeom prst="rect">
            <a:avLst/>
          </a:prstGeom>
          <a:solidFill>
            <a:srgbClr val="6C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34840" y="5678424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기록 기준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0100" y="5962243"/>
            <a:ext cx="2971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dirty="0" err="1">
                <a:solidFill>
                  <a:srgbClr val="64696E"/>
                </a:solidFill>
                <a:latin typeface="Malgun Gothic"/>
              </a:rPr>
              <a:t>확대창에서</a:t>
            </a:r>
            <a:r>
              <a:rPr sz="900" b="0" dirty="0">
                <a:solidFill>
                  <a:srgbClr val="64696E"/>
                </a:solidFill>
                <a:latin typeface="Malgun Gothic"/>
              </a:rPr>
              <a:t> 푼 </a:t>
            </a:r>
            <a:r>
              <a:rPr sz="900" b="0" dirty="0" err="1">
                <a:solidFill>
                  <a:srgbClr val="64696E"/>
                </a:solidFill>
                <a:latin typeface="Malgun Gothic"/>
              </a:rPr>
              <a:t>결과도</a:t>
            </a:r>
            <a:r>
              <a:rPr sz="900" b="0" dirty="0">
                <a:solidFill>
                  <a:srgbClr val="64696E"/>
                </a:solidFill>
                <a:latin typeface="Malgun Gothic"/>
              </a:rPr>
              <a:t> </a:t>
            </a:r>
            <a:r>
              <a:rPr sz="900" b="0" dirty="0" err="1">
                <a:solidFill>
                  <a:srgbClr val="64696E"/>
                </a:solidFill>
                <a:latin typeface="Malgun Gothic"/>
              </a:rPr>
              <a:t>동일하게</a:t>
            </a:r>
            <a:r>
              <a:rPr sz="900" b="0" dirty="0">
                <a:solidFill>
                  <a:srgbClr val="64696E"/>
                </a:solidFill>
                <a:latin typeface="Malgun Gothic"/>
              </a:rPr>
              <a:t> </a:t>
            </a:r>
            <a:r>
              <a:rPr sz="900" b="0" dirty="0" err="1">
                <a:solidFill>
                  <a:srgbClr val="64696E"/>
                </a:solidFill>
                <a:latin typeface="Malgun Gothic"/>
              </a:rPr>
              <a:t>학습기록</a:t>
            </a:r>
            <a:r>
              <a:rPr sz="900" b="0" dirty="0">
                <a:solidFill>
                  <a:srgbClr val="64696E"/>
                </a:solidFill>
                <a:latin typeface="Malgun Gothic"/>
              </a:rPr>
              <a:t> </a:t>
            </a:r>
            <a:r>
              <a:rPr sz="900" b="0" dirty="0" err="1">
                <a:solidFill>
                  <a:srgbClr val="64696E"/>
                </a:solidFill>
                <a:latin typeface="Malgun Gothic"/>
              </a:rPr>
              <a:t>저장</a:t>
            </a:r>
            <a:endParaRPr sz="900" b="0" dirty="0">
              <a:solidFill>
                <a:srgbClr val="64696E"/>
              </a:solidFill>
              <a:latin typeface="Malgun Gothic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7772400" y="5532120"/>
            <a:ext cx="32918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772400" y="5532120"/>
            <a:ext cx="64008" cy="685800"/>
          </a:xfrm>
          <a:prstGeom prst="rect">
            <a:avLst/>
          </a:prstGeom>
          <a:solidFill>
            <a:srgbClr val="16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955279" y="5678424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접근성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71584" y="5983632"/>
            <a:ext cx="2971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dirty="0" err="1">
                <a:solidFill>
                  <a:srgbClr val="64696E"/>
                </a:solidFill>
                <a:latin typeface="Malgun Gothic"/>
              </a:rPr>
              <a:t>닫기</a:t>
            </a:r>
            <a:r>
              <a:rPr sz="900" b="0" dirty="0">
                <a:solidFill>
                  <a:srgbClr val="64696E"/>
                </a:solidFill>
                <a:latin typeface="Malgun Gothic"/>
              </a:rPr>
              <a:t>, </a:t>
            </a:r>
            <a:r>
              <a:rPr sz="900" b="0" dirty="0" err="1">
                <a:solidFill>
                  <a:srgbClr val="64696E"/>
                </a:solidFill>
                <a:latin typeface="Malgun Gothic"/>
              </a:rPr>
              <a:t>뒤로가기</a:t>
            </a:r>
            <a:r>
              <a:rPr sz="900" b="0" dirty="0">
                <a:solidFill>
                  <a:srgbClr val="64696E"/>
                </a:solidFill>
                <a:latin typeface="Malgun Gothic"/>
              </a:rPr>
              <a:t>, </a:t>
            </a:r>
            <a:r>
              <a:rPr sz="900" b="0" dirty="0" err="1">
                <a:solidFill>
                  <a:srgbClr val="64696E"/>
                </a:solidFill>
                <a:latin typeface="Malgun Gothic"/>
              </a:rPr>
              <a:t>키보드</a:t>
            </a:r>
            <a:r>
              <a:rPr sz="900" b="0" dirty="0">
                <a:solidFill>
                  <a:srgbClr val="64696E"/>
                </a:solidFill>
                <a:latin typeface="Malgun Gothic"/>
              </a:rPr>
              <a:t> ESC, </a:t>
            </a:r>
            <a:r>
              <a:rPr sz="900" b="0" dirty="0" err="1">
                <a:solidFill>
                  <a:srgbClr val="64696E"/>
                </a:solidFill>
                <a:latin typeface="Malgun Gothic"/>
              </a:rPr>
              <a:t>터치</a:t>
            </a:r>
            <a:r>
              <a:rPr sz="900" b="0" dirty="0">
                <a:solidFill>
                  <a:srgbClr val="64696E"/>
                </a:solidFill>
                <a:latin typeface="Malgun Gothic"/>
              </a:rPr>
              <a:t> </a:t>
            </a:r>
            <a:r>
              <a:rPr sz="900" b="0" dirty="0" err="1">
                <a:solidFill>
                  <a:srgbClr val="64696E"/>
                </a:solidFill>
                <a:latin typeface="Malgun Gothic"/>
              </a:rPr>
              <a:t>확대</a:t>
            </a:r>
            <a:r>
              <a:rPr sz="900" b="0" dirty="0">
                <a:solidFill>
                  <a:srgbClr val="64696E"/>
                </a:solidFill>
                <a:latin typeface="Malgun Gothic"/>
              </a:rPr>
              <a:t> </a:t>
            </a:r>
            <a:r>
              <a:rPr sz="900" b="0" dirty="0" err="1">
                <a:solidFill>
                  <a:srgbClr val="64696E"/>
                </a:solidFill>
                <a:latin typeface="Malgun Gothic"/>
              </a:rPr>
              <a:t>지원</a:t>
            </a:r>
            <a:endParaRPr sz="900" b="0" dirty="0">
              <a:solidFill>
                <a:srgbClr val="64696E"/>
              </a:solidFill>
              <a:latin typeface="Malgun Gothic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40080" y="65196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696E"/>
                </a:solidFill>
                <a:latin typeface="Malgun Gothic"/>
              </a:rPr>
              <a:t>바둑 타고 한국사 여행 · 바둑문제 시스템 기획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62D48"/>
                </a:solidFill>
                <a:latin typeface="Malgun Gothic"/>
              </a:rPr>
              <a:t>12. 확대창 포함 유저 문제풀이 플로차트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96E"/>
                </a:solidFill>
                <a:latin typeface="Malgun Gothic"/>
              </a:rPr>
              <a:t>문제 카드 클릭 후 확대창에서 풀이하고 결과를 저장하는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4696E"/>
                </a:solidFill>
                <a:latin typeface="Malgun Gothic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423160"/>
            <a:ext cx="1188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" name="Rectangle 5"/>
          <p:cNvSpPr/>
          <p:nvPr/>
        </p:nvSpPr>
        <p:spPr>
          <a:xfrm>
            <a:off x="502920" y="2423160"/>
            <a:ext cx="64008" cy="914400"/>
          </a:xfrm>
          <a:prstGeom prst="rect">
            <a:avLst/>
          </a:prstGeom>
          <a:solidFill>
            <a:srgbClr val="3F7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7" name="TextBox 6"/>
          <p:cNvSpPr txBox="1"/>
          <p:nvPr/>
        </p:nvSpPr>
        <p:spPr>
          <a:xfrm>
            <a:off x="685800" y="2569464"/>
            <a:ext cx="8686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82828"/>
                </a:solidFill>
                <a:latin typeface="Malgun Gothic"/>
              </a:rPr>
              <a:t>문제 목록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74519" y="2423160"/>
            <a:ext cx="15087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" name="Rectangle 8"/>
          <p:cNvSpPr/>
          <p:nvPr/>
        </p:nvSpPr>
        <p:spPr>
          <a:xfrm>
            <a:off x="1874519" y="2423160"/>
            <a:ext cx="64008" cy="914400"/>
          </a:xfrm>
          <a:prstGeom prst="rect">
            <a:avLst/>
          </a:prstGeom>
          <a:solidFill>
            <a:srgbClr val="31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0" name="TextBox 9"/>
          <p:cNvSpPr txBox="1"/>
          <p:nvPr/>
        </p:nvSpPr>
        <p:spPr>
          <a:xfrm>
            <a:off x="2057400" y="2569464"/>
            <a:ext cx="11887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82828"/>
                </a:solidFill>
                <a:latin typeface="Malgun Gothic"/>
              </a:rPr>
              <a:t>문제 카드 클릭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2423160"/>
            <a:ext cx="1417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2" name="Rectangle 11"/>
          <p:cNvSpPr/>
          <p:nvPr/>
        </p:nvSpPr>
        <p:spPr>
          <a:xfrm>
            <a:off x="3611880" y="2423160"/>
            <a:ext cx="64008" cy="914400"/>
          </a:xfrm>
          <a:prstGeom prst="rect">
            <a:avLst/>
          </a:prstGeom>
          <a:solidFill>
            <a:srgbClr val="DD8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3" name="TextBox 12"/>
          <p:cNvSpPr txBox="1"/>
          <p:nvPr/>
        </p:nvSpPr>
        <p:spPr>
          <a:xfrm>
            <a:off x="3794760" y="2569464"/>
            <a:ext cx="1097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82828"/>
                </a:solidFill>
                <a:latin typeface="Malgun Gothic"/>
              </a:rPr>
              <a:t>확대창 열림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2423160"/>
            <a:ext cx="15087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5" name="Rectangle 14"/>
          <p:cNvSpPr/>
          <p:nvPr/>
        </p:nvSpPr>
        <p:spPr>
          <a:xfrm>
            <a:off x="5257800" y="2423160"/>
            <a:ext cx="64008" cy="914400"/>
          </a:xfrm>
          <a:prstGeom prst="rect">
            <a:avLst/>
          </a:prstGeom>
          <a:solidFill>
            <a:srgbClr val="C49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6" name="TextBox 15"/>
          <p:cNvSpPr txBox="1"/>
          <p:nvPr/>
        </p:nvSpPr>
        <p:spPr>
          <a:xfrm>
            <a:off x="5440680" y="2569464"/>
            <a:ext cx="11887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82828"/>
                </a:solidFill>
                <a:latin typeface="Malgun Gothic"/>
              </a:rPr>
              <a:t>큰 바둑판 표시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95160" y="2423160"/>
            <a:ext cx="1143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8" name="Rectangle 17"/>
          <p:cNvSpPr/>
          <p:nvPr/>
        </p:nvSpPr>
        <p:spPr>
          <a:xfrm>
            <a:off x="6995160" y="2423160"/>
            <a:ext cx="64008" cy="914400"/>
          </a:xfrm>
          <a:prstGeom prst="rect">
            <a:avLst/>
          </a:prstGeom>
          <a:solidFill>
            <a:srgbClr val="6C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9" name="TextBox 18"/>
          <p:cNvSpPr txBox="1"/>
          <p:nvPr/>
        </p:nvSpPr>
        <p:spPr>
          <a:xfrm>
            <a:off x="7178040" y="2569464"/>
            <a:ext cx="822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82828"/>
                </a:solidFill>
                <a:latin typeface="Malgun Gothic"/>
              </a:rPr>
              <a:t>유저 착수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2423160"/>
            <a:ext cx="12344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1" name="Rectangle 20"/>
          <p:cNvSpPr/>
          <p:nvPr/>
        </p:nvSpPr>
        <p:spPr>
          <a:xfrm>
            <a:off x="8366760" y="2423160"/>
            <a:ext cx="64008" cy="914400"/>
          </a:xfrm>
          <a:prstGeom prst="rect">
            <a:avLst/>
          </a:prstGeom>
          <a:solidFill>
            <a:srgbClr val="16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2" name="TextBox 21"/>
          <p:cNvSpPr txBox="1"/>
          <p:nvPr/>
        </p:nvSpPr>
        <p:spPr>
          <a:xfrm>
            <a:off x="8549640" y="2569464"/>
            <a:ext cx="914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82828"/>
                </a:solidFill>
                <a:latin typeface="Malgun Gothic"/>
              </a:rPr>
              <a:t>정답 확인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29800" y="2423160"/>
            <a:ext cx="1143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4" name="Rectangle 23"/>
          <p:cNvSpPr/>
          <p:nvPr/>
        </p:nvSpPr>
        <p:spPr>
          <a:xfrm>
            <a:off x="9829800" y="2423160"/>
            <a:ext cx="64008" cy="914400"/>
          </a:xfrm>
          <a:prstGeom prst="rect">
            <a:avLst/>
          </a:prstGeom>
          <a:solidFill>
            <a:srgbClr val="BE3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5" name="TextBox 24"/>
          <p:cNvSpPr txBox="1"/>
          <p:nvPr/>
        </p:nvSpPr>
        <p:spPr>
          <a:xfrm>
            <a:off x="10012680" y="2569464"/>
            <a:ext cx="822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82828"/>
                </a:solidFill>
                <a:latin typeface="Malgun Gothic"/>
              </a:rPr>
              <a:t>자동채점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27080" y="1463040"/>
            <a:ext cx="10058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7" name="Rectangle 26"/>
          <p:cNvSpPr/>
          <p:nvPr/>
        </p:nvSpPr>
        <p:spPr>
          <a:xfrm>
            <a:off x="10927080" y="1463040"/>
            <a:ext cx="64008" cy="914400"/>
          </a:xfrm>
          <a:prstGeom prst="rect">
            <a:avLst/>
          </a:prstGeom>
          <a:solidFill>
            <a:srgbClr val="3F7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8" name="TextBox 27"/>
          <p:cNvSpPr txBox="1"/>
          <p:nvPr/>
        </p:nvSpPr>
        <p:spPr>
          <a:xfrm>
            <a:off x="11109959" y="1609344"/>
            <a:ext cx="685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82828"/>
                </a:solidFill>
                <a:latin typeface="Malgun Gothic"/>
              </a:rPr>
              <a:t>결과 저장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744200" y="3429000"/>
            <a:ext cx="1188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0" name="Rectangle 29"/>
          <p:cNvSpPr/>
          <p:nvPr/>
        </p:nvSpPr>
        <p:spPr>
          <a:xfrm>
            <a:off x="10744200" y="3429000"/>
            <a:ext cx="64008" cy="914400"/>
          </a:xfrm>
          <a:prstGeom prst="rect">
            <a:avLst/>
          </a:prstGeom>
          <a:solidFill>
            <a:srgbClr val="DD8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1" name="TextBox 30"/>
          <p:cNvSpPr txBox="1"/>
          <p:nvPr/>
        </p:nvSpPr>
        <p:spPr>
          <a:xfrm>
            <a:off x="10927080" y="3575304"/>
            <a:ext cx="8686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82828"/>
                </a:solidFill>
                <a:latin typeface="Malgun Gothic"/>
              </a:rPr>
              <a:t>재도전/힌트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691640" y="2880360"/>
            <a:ext cx="182879" cy="0"/>
          </a:xfrm>
          <a:prstGeom prst="line">
            <a:avLst/>
          </a:prstGeom>
          <a:ln w="19050">
            <a:solidFill>
              <a:srgbClr val="646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83280" y="2880360"/>
            <a:ext cx="228600" cy="0"/>
          </a:xfrm>
          <a:prstGeom prst="line">
            <a:avLst/>
          </a:prstGeom>
          <a:ln w="19050">
            <a:solidFill>
              <a:srgbClr val="646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029200" y="2880360"/>
            <a:ext cx="228600" cy="0"/>
          </a:xfrm>
          <a:prstGeom prst="line">
            <a:avLst/>
          </a:prstGeom>
          <a:ln w="19050">
            <a:solidFill>
              <a:srgbClr val="646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766560" y="2880360"/>
            <a:ext cx="228600" cy="0"/>
          </a:xfrm>
          <a:prstGeom prst="line">
            <a:avLst/>
          </a:prstGeom>
          <a:ln w="19050">
            <a:solidFill>
              <a:srgbClr val="646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138160" y="2880360"/>
            <a:ext cx="228600" cy="0"/>
          </a:xfrm>
          <a:prstGeom prst="line">
            <a:avLst/>
          </a:prstGeom>
          <a:ln w="19050">
            <a:solidFill>
              <a:srgbClr val="646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601200" y="2880360"/>
            <a:ext cx="228600" cy="0"/>
          </a:xfrm>
          <a:prstGeom prst="line">
            <a:avLst/>
          </a:prstGeom>
          <a:ln w="19050">
            <a:solidFill>
              <a:srgbClr val="646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0927080" y="1920240"/>
            <a:ext cx="0" cy="960120"/>
          </a:xfrm>
          <a:prstGeom prst="line">
            <a:avLst/>
          </a:prstGeom>
          <a:ln w="19050">
            <a:solidFill>
              <a:srgbClr val="646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10744200" y="2880360"/>
            <a:ext cx="182880" cy="1005840"/>
          </a:xfrm>
          <a:prstGeom prst="line">
            <a:avLst/>
          </a:prstGeom>
          <a:ln w="19050">
            <a:solidFill>
              <a:srgbClr val="646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31520" y="4434840"/>
            <a:ext cx="30175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31520" y="4434840"/>
            <a:ext cx="64008" cy="914400"/>
          </a:xfrm>
          <a:prstGeom prst="rect">
            <a:avLst/>
          </a:prstGeom>
          <a:solidFill>
            <a:srgbClr val="31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400" y="4581144"/>
            <a:ext cx="2697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팝업/모달 기능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001768"/>
            <a:ext cx="26974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64696E"/>
                </a:solidFill>
                <a:latin typeface="Malgun Gothic"/>
              </a:rPr>
              <a:t>PC: 중앙 확대창</a:t>
            </a:r>
            <a:br/>
            <a:r>
              <a:t>모바일: 전체화면 문제풀이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977639" y="4434840"/>
            <a:ext cx="30175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977639" y="4434840"/>
            <a:ext cx="64008" cy="914400"/>
          </a:xfrm>
          <a:prstGeom prst="rect">
            <a:avLst/>
          </a:prstGeom>
          <a:solidFill>
            <a:srgbClr val="3F7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160520" y="4581144"/>
            <a:ext cx="2697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확대 기능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60520" y="5001768"/>
            <a:ext cx="26974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64696E"/>
                </a:solidFill>
                <a:latin typeface="Malgun Gothic"/>
              </a:rPr>
              <a:t>바둑판 확대/축소</a:t>
            </a:r>
            <a:br/>
            <a:r>
              <a:t>좌표 표시 ON/OFF</a:t>
            </a:r>
            <a:br/>
            <a:r>
              <a:t>착수 되돌리기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23760" y="4434840"/>
            <a:ext cx="30175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7223760" y="4434840"/>
            <a:ext cx="64008" cy="914400"/>
          </a:xfrm>
          <a:prstGeom prst="rect">
            <a:avLst/>
          </a:prstGeom>
          <a:solidFill>
            <a:srgbClr val="6C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406640" y="4581144"/>
            <a:ext cx="2697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학습기록 연동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06640" y="5001768"/>
            <a:ext cx="26974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64696E"/>
                </a:solidFill>
                <a:latin typeface="Malgun Gothic"/>
              </a:rPr>
              <a:t>풀이시간·정답률·힌트사용</a:t>
            </a:r>
            <a:br/>
            <a:r>
              <a:t>오답노트 자동 저장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" y="5715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2D48"/>
                </a:solidFill>
                <a:latin typeface="Malgun Gothic"/>
              </a:rPr>
              <a:t>개발 메모: 확대창은 단순 이미지 팝업이 아니라 기존 문제풀이 컴포넌트를 크게 렌더링하는 방식으로 구현해야 합니다.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65196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696E"/>
                </a:solidFill>
                <a:latin typeface="Malgun Gothic"/>
              </a:rPr>
              <a:t>바둑 타고 한국사 여행 · 바둑문제 시스템 기획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슬라이스">
  <a:themeElements>
    <a:clrScheme name="슬라이스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슬라이스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슬라이스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10</TotalTime>
  <Words>1067</Words>
  <Application>Microsoft Office PowerPoint</Application>
  <PresentationFormat>와이드스크린</PresentationFormat>
  <Paragraphs>214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Malgun Gothic</vt:lpstr>
      <vt:lpstr>Century Gothic</vt:lpstr>
      <vt:lpstr>Wingdings 3</vt:lpstr>
      <vt:lpstr>슬라이스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 </cp:lastModifiedBy>
  <cp:revision>2</cp:revision>
  <dcterms:created xsi:type="dcterms:W3CDTF">2013-01-27T09:14:16Z</dcterms:created>
  <dcterms:modified xsi:type="dcterms:W3CDTF">2026-08-20T22:26:57Z</dcterms:modified>
  <cp:category/>
</cp:coreProperties>
</file>