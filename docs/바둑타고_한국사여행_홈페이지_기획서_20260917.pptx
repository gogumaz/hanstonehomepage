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7" r:id="rId19"/>
    <p:sldId id="273" r:id="rId20"/>
    <p:sldId id="274" r:id="rId21"/>
    <p:sldId id="275" r:id="rId22"/>
    <p:sldId id="276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1F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06640" y="1051560"/>
            <a:ext cx="10972" cy="4297680"/>
          </a:xfrm>
          <a:prstGeom prst="rect">
            <a:avLst/>
          </a:prstGeom>
          <a:solidFill>
            <a:srgbClr val="78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406640" y="1051560"/>
            <a:ext cx="3108960" cy="10972"/>
          </a:xfrm>
          <a:prstGeom prst="rect">
            <a:avLst/>
          </a:prstGeom>
          <a:solidFill>
            <a:srgbClr val="78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90688" y="1051560"/>
            <a:ext cx="10972" cy="4297680"/>
          </a:xfrm>
          <a:prstGeom prst="rect">
            <a:avLst/>
          </a:prstGeom>
          <a:solidFill>
            <a:srgbClr val="78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406640" y="1527048"/>
            <a:ext cx="3108960" cy="10972"/>
          </a:xfrm>
          <a:prstGeom prst="rect">
            <a:avLst/>
          </a:prstGeom>
          <a:solidFill>
            <a:srgbClr val="78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74736" y="1051560"/>
            <a:ext cx="10972" cy="4297680"/>
          </a:xfrm>
          <a:prstGeom prst="rect">
            <a:avLst/>
          </a:prstGeom>
          <a:solidFill>
            <a:srgbClr val="78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06640" y="2002536"/>
            <a:ext cx="3108960" cy="10972"/>
          </a:xfrm>
          <a:prstGeom prst="rect">
            <a:avLst/>
          </a:prstGeom>
          <a:solidFill>
            <a:srgbClr val="78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58784" y="1051560"/>
            <a:ext cx="10972" cy="4297680"/>
          </a:xfrm>
          <a:prstGeom prst="rect">
            <a:avLst/>
          </a:prstGeom>
          <a:solidFill>
            <a:srgbClr val="78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06640" y="2478024"/>
            <a:ext cx="3108960" cy="10972"/>
          </a:xfrm>
          <a:prstGeom prst="rect">
            <a:avLst/>
          </a:prstGeom>
          <a:solidFill>
            <a:srgbClr val="78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42832" y="1051560"/>
            <a:ext cx="10972" cy="4297680"/>
          </a:xfrm>
          <a:prstGeom prst="rect">
            <a:avLst/>
          </a:prstGeom>
          <a:solidFill>
            <a:srgbClr val="78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406640" y="2953512"/>
            <a:ext cx="3108960" cy="10972"/>
          </a:xfrm>
          <a:prstGeom prst="rect">
            <a:avLst/>
          </a:prstGeom>
          <a:solidFill>
            <a:srgbClr val="78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326880" y="1051560"/>
            <a:ext cx="10972" cy="4297680"/>
          </a:xfrm>
          <a:prstGeom prst="rect">
            <a:avLst/>
          </a:prstGeom>
          <a:solidFill>
            <a:srgbClr val="78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06640" y="3429000"/>
            <a:ext cx="3108960" cy="10972"/>
          </a:xfrm>
          <a:prstGeom prst="rect">
            <a:avLst/>
          </a:prstGeom>
          <a:solidFill>
            <a:srgbClr val="78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710928" y="1051560"/>
            <a:ext cx="10972" cy="4297680"/>
          </a:xfrm>
          <a:prstGeom prst="rect">
            <a:avLst/>
          </a:prstGeom>
          <a:solidFill>
            <a:srgbClr val="78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06640" y="3904487"/>
            <a:ext cx="3108960" cy="10972"/>
          </a:xfrm>
          <a:prstGeom prst="rect">
            <a:avLst/>
          </a:prstGeom>
          <a:solidFill>
            <a:srgbClr val="78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094976" y="1051560"/>
            <a:ext cx="10972" cy="4297680"/>
          </a:xfrm>
          <a:prstGeom prst="rect">
            <a:avLst/>
          </a:prstGeom>
          <a:solidFill>
            <a:srgbClr val="78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06640" y="4379976"/>
            <a:ext cx="3108960" cy="10972"/>
          </a:xfrm>
          <a:prstGeom prst="rect">
            <a:avLst/>
          </a:prstGeom>
          <a:solidFill>
            <a:srgbClr val="78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479024" y="1051560"/>
            <a:ext cx="10972" cy="4297680"/>
          </a:xfrm>
          <a:prstGeom prst="rect">
            <a:avLst/>
          </a:prstGeom>
          <a:solidFill>
            <a:srgbClr val="78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06640" y="4855464"/>
            <a:ext cx="3108960" cy="10972"/>
          </a:xfrm>
          <a:prstGeom prst="rect">
            <a:avLst/>
          </a:prstGeom>
          <a:solidFill>
            <a:srgbClr val="78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325612" y="1794001"/>
            <a:ext cx="466344" cy="439012"/>
          </a:xfrm>
          <a:prstGeom prst="ellipse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710928" y="3017520"/>
            <a:ext cx="310896" cy="310896"/>
          </a:xfrm>
          <a:prstGeom prst="ellipse">
            <a:avLst/>
          </a:prstGeom>
          <a:solidFill>
            <a:srgbClr val="231F1B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104120" y="2514600"/>
            <a:ext cx="310896" cy="310896"/>
          </a:xfrm>
          <a:prstGeom prst="ellipse">
            <a:avLst/>
          </a:prstGeom>
          <a:solidFill>
            <a:srgbClr val="231F1B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31520" y="713232"/>
            <a:ext cx="1965960" cy="347472"/>
          </a:xfrm>
          <a:prstGeom prst="roundRect">
            <a:avLst/>
          </a:prstGeom>
          <a:solidFill>
            <a:srgbClr val="B1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749808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홈페이지 구축 기획서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1417320"/>
            <a:ext cx="61264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dirty="0" err="1">
                <a:solidFill>
                  <a:srgbClr val="FFFFFF"/>
                </a:solidFill>
                <a:latin typeface="+mn-ea"/>
              </a:rPr>
              <a:t>바둑타고</a:t>
            </a:r>
            <a:br>
              <a:rPr sz="3600" dirty="0">
                <a:latin typeface="+mn-ea"/>
              </a:rPr>
            </a:br>
            <a:r>
              <a:rPr sz="3600" b="1" dirty="0" err="1">
                <a:solidFill>
                  <a:schemeClr val="bg1">
                    <a:lumMod val="95000"/>
                  </a:schemeClr>
                </a:solidFill>
                <a:latin typeface="+mn-ea"/>
              </a:rPr>
              <a:t>한국사</a:t>
            </a:r>
            <a:r>
              <a:rPr sz="36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 </a:t>
            </a:r>
            <a:r>
              <a:rPr sz="3600" b="1" dirty="0" err="1">
                <a:solidFill>
                  <a:schemeClr val="bg1">
                    <a:lumMod val="95000"/>
                  </a:schemeClr>
                </a:solidFill>
                <a:latin typeface="+mn-ea"/>
              </a:rPr>
              <a:t>여행</a:t>
            </a:r>
            <a:endParaRPr sz="3600" b="1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7240" y="3127248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CEA248"/>
                </a:solidFill>
                <a:latin typeface="Malgun Gothic"/>
              </a:rPr>
              <a:t>한 수 둘 때마다, 역사의 한 장면이 열린다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79476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D7CF"/>
                </a:solidFill>
                <a:latin typeface="Malgun Gothic"/>
              </a:rPr>
              <a:t>바둑 학습 × 한국사 스토리 × 미션형 게임 × 교재·영상 콘텐츠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715000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FA9A0"/>
                </a:solidFill>
                <a:latin typeface="Malgun Gothic"/>
              </a:rPr>
              <a:t>벤치마크: 상상바둑(ssbaduk.com)의 교육콘텐츠·수업도우미·교재·용품 구조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0167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CEA248"/>
                </a:solidFill>
                <a:latin typeface="Malgun Gothic"/>
              </a:rPr>
              <a:t>기획안</a:t>
            </a:r>
          </a:p>
        </p:txBody>
      </p:sp>
      <p:sp>
        <p:nvSpPr>
          <p:cNvPr id="31" name="Oval 19">
            <a:extLst>
              <a:ext uri="{FF2B5EF4-FFF2-40B4-BE49-F238E27FC236}">
                <a16:creationId xmlns:a16="http://schemas.microsoft.com/office/drawing/2014/main" id="{DD38A1CA-6092-4F2F-8DEC-098DAD8D7FE1}"/>
              </a:ext>
            </a:extLst>
          </p:cNvPr>
          <p:cNvSpPr/>
          <p:nvPr/>
        </p:nvSpPr>
        <p:spPr>
          <a:xfrm>
            <a:off x="7952536" y="2720190"/>
            <a:ext cx="466344" cy="439012"/>
          </a:xfrm>
          <a:prstGeom prst="ellipse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31F1B"/>
                </a:solidFill>
                <a:latin typeface="Malgun Gothic"/>
              </a:rPr>
              <a:t>벤치마킹 핵심: ‘콘텐츠 → 학습 → 상품 → 상담’의 연결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41832"/>
            <a:ext cx="10607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 err="1">
                <a:solidFill>
                  <a:srgbClr val="696560"/>
                </a:solidFill>
                <a:latin typeface="Malgun Gothic"/>
              </a:rPr>
              <a:t>교육</a:t>
            </a:r>
            <a:r>
              <a:rPr sz="1200" b="0" dirty="0">
                <a:solidFill>
                  <a:srgbClr val="69656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696560"/>
                </a:solidFill>
                <a:latin typeface="Malgun Gothic"/>
              </a:rPr>
              <a:t>콘텐츠와</a:t>
            </a:r>
            <a:r>
              <a:rPr sz="1200" b="0" dirty="0">
                <a:solidFill>
                  <a:srgbClr val="69656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696560"/>
                </a:solidFill>
                <a:latin typeface="Malgun Gothic"/>
              </a:rPr>
              <a:t>교재·용품·상담을</a:t>
            </a:r>
            <a:r>
              <a:rPr sz="1200" b="0" dirty="0">
                <a:solidFill>
                  <a:srgbClr val="696560"/>
                </a:solidFill>
                <a:latin typeface="Malgun Gothic"/>
              </a:rPr>
              <a:t> 한 </a:t>
            </a:r>
            <a:r>
              <a:rPr sz="1200" b="0" dirty="0" err="1">
                <a:solidFill>
                  <a:srgbClr val="696560"/>
                </a:solidFill>
                <a:latin typeface="Malgun Gothic"/>
              </a:rPr>
              <a:t>사이트</a:t>
            </a:r>
            <a:r>
              <a:rPr sz="1200" b="0" dirty="0">
                <a:solidFill>
                  <a:srgbClr val="69656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696560"/>
                </a:solidFill>
                <a:latin typeface="Malgun Gothic"/>
              </a:rPr>
              <a:t>안에서</a:t>
            </a:r>
            <a:r>
              <a:rPr sz="1200" b="0" dirty="0">
                <a:solidFill>
                  <a:srgbClr val="69656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696560"/>
                </a:solidFill>
                <a:latin typeface="Malgun Gothic"/>
              </a:rPr>
              <a:t>순환시키는</a:t>
            </a:r>
            <a:r>
              <a:rPr sz="1200" b="0" dirty="0">
                <a:solidFill>
                  <a:srgbClr val="69656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696560"/>
                </a:solidFill>
                <a:latin typeface="Malgun Gothic"/>
              </a:rPr>
              <a:t>구조</a:t>
            </a:r>
            <a:endParaRPr sz="1200" b="0" dirty="0">
              <a:solidFill>
                <a:srgbClr val="696560"/>
              </a:solidFill>
              <a:latin typeface="Malgun Gothi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960120" cy="45720"/>
          </a:xfrm>
          <a:prstGeom prst="rect">
            <a:avLst/>
          </a:prstGeom>
          <a:solidFill>
            <a:srgbClr val="B1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744C2B"/>
                </a:solidFill>
                <a:latin typeface="Malgun Gothic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6060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73152" cy="1874519"/>
          </a:xfrm>
          <a:prstGeom prst="rect">
            <a:avLst/>
          </a:prstGeom>
          <a:solidFill>
            <a:srgbClr val="B1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64792"/>
            <a:ext cx="2258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① 교육콘텐츠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03704"/>
            <a:ext cx="2258568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상상바둑·애니바둑 등</a:t>
            </a:r>
            <a:br/>
            <a:r>
              <a:t>영상 기반 학습 진입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600200"/>
            <a:ext cx="26060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56432" y="1600200"/>
            <a:ext cx="73152" cy="1874519"/>
          </a:xfrm>
          <a:prstGeom prst="rect">
            <a:avLst/>
          </a:prstGeom>
          <a:solidFill>
            <a:srgbClr val="B5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1764792"/>
            <a:ext cx="2258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② 수업도우미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203704"/>
            <a:ext cx="2258568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포석·집중교육·노래·동화·</a:t>
            </a:r>
            <a:br/>
            <a:r>
              <a:t>인성교육 등 교사용 보조자료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600200"/>
            <a:ext cx="26060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27064" y="1600200"/>
            <a:ext cx="73152" cy="1874519"/>
          </a:xfrm>
          <a:prstGeom prst="rect">
            <a:avLst/>
          </a:prstGeom>
          <a:solidFill>
            <a:srgbClr val="49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1" y="1764792"/>
            <a:ext cx="2258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③ 교재·용품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2203704"/>
            <a:ext cx="2258568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단계별 교재 A~F,</a:t>
            </a:r>
            <a:br/>
            <a:r>
              <a:t>바둑판·바둑알·교육용품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7696" y="1600200"/>
            <a:ext cx="2514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97696" y="1600200"/>
            <a:ext cx="73152" cy="1874519"/>
          </a:xfrm>
          <a:prstGeom prst="rect">
            <a:avLst/>
          </a:prstGeom>
          <a:solidFill>
            <a:srgbClr val="42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98864" y="1764792"/>
            <a:ext cx="2167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④ 전환장치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8864" y="2203704"/>
            <a:ext cx="2167128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회원·마이페이지·장바구니·</a:t>
            </a:r>
            <a:br/>
            <a:r>
              <a:t>전화상담·1:1 문의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886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31F1B"/>
                </a:solidFill>
                <a:latin typeface="Malgun Gothic"/>
              </a:rPr>
              <a:t>→ ‘바둑타고 한국사 여행’은 이 구조를 그대로 복제하기보다,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343400"/>
            <a:ext cx="10424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 err="1">
                <a:solidFill>
                  <a:srgbClr val="B13A2E"/>
                </a:solidFill>
                <a:latin typeface="Malgun Gothic"/>
              </a:rPr>
              <a:t>바둑</a:t>
            </a:r>
            <a:r>
              <a:rPr sz="2000" b="1" dirty="0">
                <a:solidFill>
                  <a:srgbClr val="B13A2E"/>
                </a:solidFill>
                <a:latin typeface="Malgun Gothic"/>
              </a:rPr>
              <a:t> </a:t>
            </a:r>
            <a:r>
              <a:rPr sz="2000" b="1" dirty="0" err="1">
                <a:solidFill>
                  <a:srgbClr val="B13A2E"/>
                </a:solidFill>
                <a:latin typeface="Malgun Gothic"/>
              </a:rPr>
              <a:t>학습의</a:t>
            </a:r>
            <a:r>
              <a:rPr sz="2000" b="1" dirty="0">
                <a:solidFill>
                  <a:srgbClr val="B13A2E"/>
                </a:solidFill>
                <a:latin typeface="Malgun Gothic"/>
              </a:rPr>
              <a:t> </a:t>
            </a:r>
            <a:r>
              <a:rPr sz="2000" b="1" dirty="0" err="1">
                <a:solidFill>
                  <a:srgbClr val="B13A2E"/>
                </a:solidFill>
                <a:latin typeface="Malgun Gothic"/>
              </a:rPr>
              <a:t>진행</a:t>
            </a:r>
            <a:r>
              <a:rPr sz="2000" b="1" dirty="0">
                <a:solidFill>
                  <a:srgbClr val="B13A2E"/>
                </a:solidFill>
                <a:latin typeface="Malgun Gothic"/>
              </a:rPr>
              <a:t> </a:t>
            </a:r>
            <a:r>
              <a:rPr sz="2000" b="1" dirty="0" err="1">
                <a:solidFill>
                  <a:srgbClr val="B13A2E"/>
                </a:solidFill>
                <a:latin typeface="Malgun Gothic"/>
              </a:rPr>
              <a:t>자체가</a:t>
            </a:r>
            <a:r>
              <a:rPr sz="2000" b="1" dirty="0">
                <a:solidFill>
                  <a:srgbClr val="B13A2E"/>
                </a:solidFill>
                <a:latin typeface="Malgun Gothic"/>
              </a:rPr>
              <a:t> </a:t>
            </a:r>
            <a:r>
              <a:rPr sz="2000" b="1" dirty="0" err="1">
                <a:solidFill>
                  <a:srgbClr val="B13A2E"/>
                </a:solidFill>
                <a:latin typeface="Malgun Gothic"/>
              </a:rPr>
              <a:t>한국사</a:t>
            </a:r>
            <a:r>
              <a:rPr sz="2000" b="1" dirty="0">
                <a:solidFill>
                  <a:srgbClr val="B13A2E"/>
                </a:solidFill>
                <a:latin typeface="Malgun Gothic"/>
              </a:rPr>
              <a:t> </a:t>
            </a:r>
            <a:r>
              <a:rPr sz="2000" b="1" dirty="0" err="1">
                <a:solidFill>
                  <a:srgbClr val="B13A2E"/>
                </a:solidFill>
                <a:latin typeface="Malgun Gothic"/>
              </a:rPr>
              <a:t>시대를</a:t>
            </a:r>
            <a:r>
              <a:rPr sz="2000" b="1" dirty="0">
                <a:solidFill>
                  <a:srgbClr val="B13A2E"/>
                </a:solidFill>
                <a:latin typeface="Malgun Gothic"/>
              </a:rPr>
              <a:t> </a:t>
            </a:r>
            <a:r>
              <a:rPr sz="2000" b="1" dirty="0" err="1">
                <a:solidFill>
                  <a:srgbClr val="B13A2E"/>
                </a:solidFill>
                <a:latin typeface="Malgun Gothic"/>
              </a:rPr>
              <a:t>이동하는</a:t>
            </a:r>
            <a:r>
              <a:rPr sz="2000" b="1" dirty="0">
                <a:solidFill>
                  <a:srgbClr val="B13A2E"/>
                </a:solidFill>
                <a:latin typeface="Malgun Gothic"/>
              </a:rPr>
              <a:t> ‘</a:t>
            </a:r>
            <a:r>
              <a:rPr sz="2000" b="1" dirty="0" err="1">
                <a:solidFill>
                  <a:srgbClr val="B13A2E"/>
                </a:solidFill>
                <a:latin typeface="Malgun Gothic"/>
              </a:rPr>
              <a:t>여행</a:t>
            </a:r>
            <a:r>
              <a:rPr sz="2000" b="1" dirty="0">
                <a:solidFill>
                  <a:srgbClr val="B13A2E"/>
                </a:solidFill>
                <a:latin typeface="Malgun Gothic"/>
              </a:rPr>
              <a:t> </a:t>
            </a:r>
            <a:r>
              <a:rPr sz="2000" b="1" dirty="0" err="1">
                <a:solidFill>
                  <a:srgbClr val="B13A2E"/>
                </a:solidFill>
                <a:latin typeface="Malgun Gothic"/>
              </a:rPr>
              <a:t>경험’이</a:t>
            </a:r>
            <a:r>
              <a:rPr sz="2000" b="1" dirty="0">
                <a:solidFill>
                  <a:srgbClr val="B13A2E"/>
                </a:solidFill>
                <a:latin typeface="Malgun Gothic"/>
              </a:rPr>
              <a:t> </a:t>
            </a:r>
            <a:r>
              <a:rPr sz="2000" b="1" dirty="0" err="1">
                <a:solidFill>
                  <a:srgbClr val="B13A2E"/>
                </a:solidFill>
                <a:latin typeface="Malgun Gothic"/>
              </a:rPr>
              <a:t>되도록</a:t>
            </a:r>
            <a:r>
              <a:rPr sz="2000" b="1" dirty="0">
                <a:solidFill>
                  <a:srgbClr val="B13A2E"/>
                </a:solidFill>
                <a:latin typeface="Malgun Gothic"/>
              </a:rPr>
              <a:t> </a:t>
            </a:r>
            <a:r>
              <a:rPr sz="2000" b="1" dirty="0" err="1">
                <a:solidFill>
                  <a:srgbClr val="B13A2E"/>
                </a:solidFill>
                <a:latin typeface="Malgun Gothic"/>
              </a:rPr>
              <a:t>재설계</a:t>
            </a:r>
            <a:endParaRPr sz="2000" b="1" dirty="0">
              <a:solidFill>
                <a:srgbClr val="B13A2E"/>
              </a:solidFill>
              <a:latin typeface="Malgun Gothic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77240" y="5166360"/>
            <a:ext cx="1600200" cy="347472"/>
          </a:xfrm>
          <a:prstGeom prst="roundRect">
            <a:avLst/>
          </a:prstGeom>
          <a:solidFill>
            <a:srgbClr val="744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5202936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벤치마크 포인트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5184648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560"/>
                </a:solidFill>
                <a:latin typeface="Malgun Gothic"/>
              </a:rPr>
              <a:t>단계형 콘텐츠  |  교사용 도우미  |  교재 연동  |  회원 진도관리  |  체험→구매/수강 전환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5196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560"/>
                </a:solidFill>
                <a:latin typeface="Malgun Gothic"/>
              </a:rPr>
              <a:t>바둑타고 한국사 여행 · Website Planning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51967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6560"/>
                </a:solidFill>
                <a:latin typeface="Malgun Gothic"/>
              </a:rPr>
              <a:t>2026.08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31F1B"/>
                </a:solidFill>
                <a:latin typeface="Malgun Gothic"/>
              </a:rPr>
              <a:t>서비스 콘셉트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418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6560"/>
                </a:solidFill>
                <a:latin typeface="Malgun Gothic"/>
              </a:rPr>
              <a:t>어린이가 ‘역사를 공부한다’보다 ‘바둑판을 타고 시대를 여행한다’고 느끼게 만드는 에듀테인먼트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960120" cy="45720"/>
          </a:xfrm>
          <a:prstGeom prst="rect">
            <a:avLst/>
          </a:prstGeom>
          <a:solidFill>
            <a:srgbClr val="B1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744C2B"/>
                </a:solidFill>
                <a:latin typeface="Malgun Gothic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13A2E"/>
                </a:solidFill>
                <a:latin typeface="Malgun Gothic"/>
              </a:rPr>
              <a:t>핵심 슬로건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31F1B"/>
                </a:solidFill>
                <a:latin typeface="Malgun Gothic"/>
              </a:rPr>
              <a:t>“한 수 두고, 한 시대를 만나다.”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8036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73152" cy="1920240"/>
          </a:xfrm>
          <a:prstGeom prst="rect">
            <a:avLst/>
          </a:prstGeom>
          <a:solidFill>
            <a:srgbClr val="B5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3044952"/>
            <a:ext cx="2990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바둑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483864"/>
            <a:ext cx="2990088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규칙 · 따내기 · 연결 · 사활 · 포석</a:t>
            </a:r>
            <a:br/>
            <a:r>
              <a:t>→ 사고력과 선택의 경험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88036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07408" y="2880360"/>
            <a:ext cx="73152" cy="1920240"/>
          </a:xfrm>
          <a:prstGeom prst="rect">
            <a:avLst/>
          </a:prstGeom>
          <a:solidFill>
            <a:srgbClr val="B1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08576" y="3044952"/>
            <a:ext cx="2990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한국사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483864"/>
            <a:ext cx="2990088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선사 · 고조선 · 삼국 · 고려 · 조선 · 근현대</a:t>
            </a:r>
            <a:br/>
            <a:r>
              <a:t>→ 이야기와 인물·유물·사건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288036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83296" y="2880360"/>
            <a:ext cx="73152" cy="1920240"/>
          </a:xfrm>
          <a:prstGeom prst="rect">
            <a:avLst/>
          </a:prstGeom>
          <a:solidFill>
            <a:srgbClr val="49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84464" y="3044952"/>
            <a:ext cx="2990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게임화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3483864"/>
            <a:ext cx="2990088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미션 · 별 · 배지 · 지도 · 캐릭터 · 퀴즈</a:t>
            </a:r>
            <a:br/>
            <a:r>
              <a:t>→ 반복 학습과 성취감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578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744C2B"/>
                </a:solidFill>
                <a:latin typeface="Malgun Gothic"/>
              </a:rPr>
              <a:t>차별점: 바둑 문제와 역사 문제를 따로 놓지 않고, 하나의 ‘시대 미션’ 안에서 연결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5196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560"/>
                </a:solidFill>
                <a:latin typeface="Malgun Gothic"/>
              </a:rPr>
              <a:t>바둑타고 한국사 여행 · Website Planning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51967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6560"/>
                </a:solidFill>
                <a:latin typeface="Malgun Gothic"/>
              </a:rPr>
              <a:t>2026.08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31F1B"/>
                </a:solidFill>
                <a:latin typeface="Malgun Gothic"/>
              </a:rPr>
              <a:t>핵심 이용자와 이용 시나리오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418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6560"/>
                </a:solidFill>
                <a:latin typeface="Malgun Gothic"/>
              </a:rPr>
              <a:t>초등 저학년의 재미, 고학년의 역사학습, 지도자의 수업 운영을 동시에 만족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960120" cy="45720"/>
          </a:xfrm>
          <a:prstGeom prst="rect">
            <a:avLst/>
          </a:prstGeom>
          <a:solidFill>
            <a:srgbClr val="B1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744C2B"/>
                </a:solidFill>
                <a:latin typeface="Malgun Gothic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73152" cy="3429000"/>
          </a:xfrm>
          <a:prstGeom prst="rect">
            <a:avLst/>
          </a:prstGeom>
          <a:solidFill>
            <a:srgbClr val="B1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10512"/>
            <a:ext cx="3035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학생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49424"/>
            <a:ext cx="3035808" cy="2679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초등 1~6학년</a:t>
            </a:r>
            <a:br/>
            <a:br/>
            <a:r>
              <a:t>• 캐릭터와 지도에서 시대 선택</a:t>
            </a:r>
            <a:br/>
            <a:r>
              <a:t>• 5~10분 단위 미션 수행</a:t>
            </a:r>
            <a:br/>
            <a:r>
              <a:t>• 바둑 문제 + 역사 퀴즈</a:t>
            </a:r>
            <a:br/>
            <a:r>
              <a:t>• 별·배지·유물카드 수집</a:t>
            </a:r>
            <a:br/>
            <a:r>
              <a:t>• 내 여행지도에서 진도 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645920"/>
            <a:ext cx="33832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07408" y="1645920"/>
            <a:ext cx="73152" cy="3429000"/>
          </a:xfrm>
          <a:prstGeom prst="rect">
            <a:avLst/>
          </a:prstGeom>
          <a:solidFill>
            <a:srgbClr val="49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8576" y="1810512"/>
            <a:ext cx="3035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학부모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249424"/>
            <a:ext cx="3035808" cy="2679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교육 효과를 확인하는 보호자</a:t>
            </a:r>
            <a:br/>
            <a:br/>
            <a:r>
              <a:t>• 학습 진도·정답률 확인</a:t>
            </a:r>
            <a:br/>
            <a:r>
              <a:t>• 바둑/한국사 영역별 성취도</a:t>
            </a:r>
            <a:br/>
            <a:r>
              <a:t>• 주간 학습 리포트</a:t>
            </a:r>
            <a:br/>
            <a:r>
              <a:t>• 교재·수업 연계 안내</a:t>
            </a:r>
            <a:br/>
            <a:r>
              <a:t>• 체험/수강 상담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645920"/>
            <a:ext cx="33832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83296" y="1645920"/>
            <a:ext cx="73152" cy="3429000"/>
          </a:xfrm>
          <a:prstGeom prst="rect">
            <a:avLst/>
          </a:prstGeom>
          <a:solidFill>
            <a:srgbClr val="42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4464" y="1810512"/>
            <a:ext cx="3035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지도자·학원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249424"/>
            <a:ext cx="3035808" cy="2679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수업에 바로 쓰는 운영 도구</a:t>
            </a:r>
            <a:br/>
            <a:br/>
            <a:r>
              <a:t>• 수업용 PPT/영상/활동지</a:t>
            </a:r>
            <a:br/>
            <a:r>
              <a:t>• 반별 진도 설정</a:t>
            </a:r>
            <a:br/>
            <a:r>
              <a:t>• 미션 과제 배포</a:t>
            </a:r>
            <a:br/>
            <a:r>
              <a:t>• 학생 결과 확인</a:t>
            </a:r>
            <a:br/>
            <a:r>
              <a:t>• 교재·수업도우미 연동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5778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B2C 학생·학부모 + B2B 바둑학원·방과후 지도자까지 확장 가능한 구조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5196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560"/>
                </a:solidFill>
                <a:latin typeface="Malgun Gothic"/>
              </a:rPr>
              <a:t>바둑타고 한국사 여행 · Website Planning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51967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6560"/>
                </a:solidFill>
                <a:latin typeface="Malgun Gothic"/>
              </a:rPr>
              <a:t>2026.08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31F1B"/>
                </a:solidFill>
                <a:latin typeface="Malgun Gothic"/>
              </a:rPr>
              <a:t>홈페이지 정보구조(IA)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41832"/>
            <a:ext cx="10607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 err="1">
                <a:solidFill>
                  <a:srgbClr val="696560"/>
                </a:solidFill>
                <a:latin typeface="Malgun Gothic"/>
              </a:rPr>
              <a:t>카테고리형</a:t>
            </a:r>
            <a:r>
              <a:rPr sz="1200" b="0" dirty="0">
                <a:solidFill>
                  <a:srgbClr val="69656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696560"/>
                </a:solidFill>
                <a:latin typeface="Malgun Gothic"/>
              </a:rPr>
              <a:t>구조를</a:t>
            </a:r>
            <a:r>
              <a:rPr sz="1200" b="0" dirty="0">
                <a:solidFill>
                  <a:srgbClr val="696560"/>
                </a:solidFill>
                <a:latin typeface="Malgun Gothic"/>
              </a:rPr>
              <a:t> ‘</a:t>
            </a:r>
            <a:r>
              <a:rPr sz="1200" b="0" dirty="0" err="1">
                <a:solidFill>
                  <a:srgbClr val="696560"/>
                </a:solidFill>
                <a:latin typeface="Malgun Gothic"/>
              </a:rPr>
              <a:t>여행·미션·교실</a:t>
            </a:r>
            <a:r>
              <a:rPr sz="1200" b="0" dirty="0">
                <a:solidFill>
                  <a:srgbClr val="696560"/>
                </a:solidFill>
                <a:latin typeface="Malgun Gothic"/>
              </a:rPr>
              <a:t>’ </a:t>
            </a:r>
            <a:r>
              <a:rPr sz="1200" b="0" dirty="0" err="1">
                <a:solidFill>
                  <a:srgbClr val="696560"/>
                </a:solidFill>
                <a:latin typeface="Malgun Gothic"/>
              </a:rPr>
              <a:t>중심으로</a:t>
            </a:r>
            <a:r>
              <a:rPr sz="1200" b="0" dirty="0">
                <a:solidFill>
                  <a:srgbClr val="69656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696560"/>
                </a:solidFill>
                <a:latin typeface="Malgun Gothic"/>
              </a:rPr>
              <a:t>재편</a:t>
            </a:r>
            <a:endParaRPr sz="1200" b="0" dirty="0">
              <a:solidFill>
                <a:srgbClr val="696560"/>
              </a:solidFill>
              <a:latin typeface="Malgun Gothi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960120" cy="45720"/>
          </a:xfrm>
          <a:prstGeom prst="rect">
            <a:avLst/>
          </a:prstGeom>
          <a:solidFill>
            <a:srgbClr val="B1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744C2B"/>
                </a:solidFill>
                <a:latin typeface="Malgun Gothic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73152" cy="1600200"/>
          </a:xfrm>
          <a:prstGeom prst="rect">
            <a:avLst/>
          </a:prstGeom>
          <a:solidFill>
            <a:srgbClr val="B1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764792"/>
            <a:ext cx="2990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한국사 여행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03704"/>
            <a:ext cx="299008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시대별 스토리</a:t>
            </a:r>
            <a:br/>
            <a:r>
              <a:t>선사→고조선→삼국→고려→조선→근현대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7" y="160020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07407" y="1600200"/>
            <a:ext cx="73152" cy="1600200"/>
          </a:xfrm>
          <a:prstGeom prst="rect">
            <a:avLst/>
          </a:prstGeom>
          <a:solidFill>
            <a:srgbClr val="B5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8575" y="1764792"/>
            <a:ext cx="2990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바둑 미션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5" y="2203704"/>
            <a:ext cx="299008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입문·초급·중급</a:t>
            </a:r>
            <a:br/>
            <a:r>
              <a:t>따내기·연결·사활·포석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60020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83296" y="1600200"/>
            <a:ext cx="73152" cy="1600200"/>
          </a:xfrm>
          <a:prstGeom prst="rect">
            <a:avLst/>
          </a:prstGeom>
          <a:solidFill>
            <a:srgbClr val="42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4464" y="1764792"/>
            <a:ext cx="2990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오늘의 교실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203704"/>
            <a:ext cx="299008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영상·퀴즈·활동지</a:t>
            </a:r>
            <a:br/>
            <a:r>
              <a:t>교사용 수업도우미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118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611880"/>
            <a:ext cx="73152" cy="1600200"/>
          </a:xfrm>
          <a:prstGeom prst="rect">
            <a:avLst/>
          </a:prstGeom>
          <a:solidFill>
            <a:srgbClr val="49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3776472"/>
            <a:ext cx="2990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교재·자료실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215384"/>
            <a:ext cx="299008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워크북·교사용 지도서</a:t>
            </a:r>
            <a:br/>
            <a:r>
              <a:t>다운로드·인쇄자료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7407" y="36118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07407" y="3611880"/>
            <a:ext cx="73152" cy="1600200"/>
          </a:xfrm>
          <a:prstGeom prst="rect">
            <a:avLst/>
          </a:prstGeom>
          <a:solidFill>
            <a:srgbClr val="CEA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08575" y="3776472"/>
            <a:ext cx="2990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나의 여행지도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575" y="4215384"/>
            <a:ext cx="299008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진도·별·배지·유물카드</a:t>
            </a:r>
            <a:br/>
            <a:r>
              <a:t>학습 리포트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83296" y="36118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83296" y="3611880"/>
            <a:ext cx="73152" cy="1600200"/>
          </a:xfrm>
          <a:prstGeom prst="rect">
            <a:avLst/>
          </a:prstGeom>
          <a:solidFill>
            <a:srgbClr val="744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84464" y="3776472"/>
            <a:ext cx="2990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스토어/상담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4" y="4215384"/>
            <a:ext cx="299008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교재·체험키트·수강권</a:t>
            </a:r>
            <a:br/>
            <a:r>
              <a:t>문의·기관도입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715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696560"/>
                </a:solidFill>
                <a:latin typeface="Malgun Gothic"/>
              </a:rPr>
              <a:t>상단 고정 메뉴:  한국사 여행  |  바둑 미션  |  오늘의 교실  |  교재·자료실  |  나의 여행지도  |  스토어/상담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5196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560"/>
                </a:solidFill>
                <a:latin typeface="Malgun Gothic"/>
              </a:rPr>
              <a:t>바둑타고 한국사 여행 · Website Planning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51967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6560"/>
                </a:solidFill>
                <a:latin typeface="Malgun Gothic"/>
              </a:rPr>
              <a:t>2026.08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31F1B"/>
                </a:solidFill>
                <a:latin typeface="Malgun Gothic"/>
              </a:rPr>
              <a:t>핵심 UX: ‘시대 지도’를 따라가는 학습 여정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418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6560"/>
                </a:solidFill>
                <a:latin typeface="Malgun Gothic"/>
              </a:rPr>
              <a:t>홈페이지 첫 화면에서 바로 ‘여행 시작’ 버튼으로 진입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960120" cy="45720"/>
          </a:xfrm>
          <a:prstGeom prst="rect">
            <a:avLst/>
          </a:prstGeom>
          <a:solidFill>
            <a:srgbClr val="B1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744C2B"/>
                </a:solidFill>
                <a:latin typeface="Malgun Gothic"/>
              </a:rPr>
              <a:t>06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965960"/>
            <a:ext cx="1078992" cy="1078992"/>
          </a:xfrm>
          <a:prstGeom prst="ellipse">
            <a:avLst/>
          </a:prstGeom>
          <a:solidFill>
            <a:srgbClr val="B1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221992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31F1B"/>
                </a:solidFill>
                <a:latin typeface="Malgun Gothic"/>
              </a:rPr>
              <a:t>선사시대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96560"/>
                </a:solidFill>
                <a:latin typeface="Malgun Gothic"/>
              </a:rPr>
              <a:t>주변을 살펴라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" y="4251960"/>
            <a:ext cx="1417320" cy="347472"/>
          </a:xfrm>
          <a:prstGeom prst="roundRect">
            <a:avLst/>
          </a:prstGeom>
          <a:solidFill>
            <a:srgbClr val="B1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208" y="4288536"/>
            <a:ext cx="14173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b="1" dirty="0">
                <a:solidFill>
                  <a:srgbClr val="FFFFFF"/>
                </a:solidFill>
                <a:latin typeface="Malgun Gothic"/>
              </a:rPr>
              <a:t>바둑의 역사와 예절</a:t>
            </a:r>
            <a:endParaRPr sz="105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01952" y="23042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96560"/>
                </a:solidFill>
                <a:latin typeface="Malgun Gothic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2560320" y="1965960"/>
            <a:ext cx="1078992" cy="1078992"/>
          </a:xfrm>
          <a:prstGeom prst="ellipse">
            <a:avLst/>
          </a:prstGeom>
          <a:solidFill>
            <a:srgbClr val="B5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60320" y="2221992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200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31F1B"/>
                </a:solidFill>
                <a:latin typeface="Malgun Gothic"/>
              </a:rPr>
              <a:t>고조선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6576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96560"/>
                </a:solidFill>
                <a:latin typeface="Malgun Gothic"/>
              </a:rPr>
              <a:t>영역을 지켜라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95727" y="4251960"/>
            <a:ext cx="1417320" cy="347472"/>
          </a:xfrm>
          <a:prstGeom prst="roundRect">
            <a:avLst/>
          </a:prstGeom>
          <a:solidFill>
            <a:srgbClr val="B5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95727" y="4288536"/>
            <a:ext cx="14173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b="1" dirty="0">
                <a:solidFill>
                  <a:srgbClr val="FFFFFF"/>
                </a:solidFill>
                <a:latin typeface="Malgun Gothic"/>
              </a:rPr>
              <a:t>포석</a:t>
            </a:r>
            <a:endParaRPr sz="105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776472" y="23042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96560"/>
                </a:solidFill>
                <a:latin typeface="Malgun Gothic"/>
              </a:rP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4434840" y="1965960"/>
            <a:ext cx="1078992" cy="1078992"/>
          </a:xfrm>
          <a:prstGeom prst="ellipse">
            <a:avLst/>
          </a:prstGeom>
          <a:solidFill>
            <a:srgbClr val="49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34840" y="2221992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200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31F1B"/>
                </a:solidFill>
                <a:latin typeface="Malgun Gothic"/>
              </a:rPr>
              <a:t>삼국시대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6576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96560"/>
                </a:solidFill>
                <a:latin typeface="Malgun Gothic"/>
              </a:rPr>
              <a:t>연결하고 확장하라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0248" y="4251960"/>
            <a:ext cx="1417320" cy="452074"/>
          </a:xfrm>
          <a:prstGeom prst="roundRect">
            <a:avLst/>
          </a:prstGeom>
          <a:solidFill>
            <a:srgbClr val="49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70248" y="4288536"/>
            <a:ext cx="14173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b="1" dirty="0">
                <a:solidFill>
                  <a:srgbClr val="FFFFFF"/>
                </a:solidFill>
                <a:latin typeface="Malgun Gothic"/>
              </a:rPr>
              <a:t>활로와 단수</a:t>
            </a:r>
            <a:r>
              <a:rPr lang="en-US" altLang="ko-KR" sz="1050" b="1" dirty="0">
                <a:solidFill>
                  <a:srgbClr val="FFFFFF"/>
                </a:solidFill>
                <a:latin typeface="Malgun Gothic"/>
              </a:rPr>
              <a:t>,</a:t>
            </a:r>
          </a:p>
          <a:p>
            <a:pPr algn="ctr"/>
            <a:r>
              <a:rPr sz="1050" b="1" dirty="0" err="1">
                <a:solidFill>
                  <a:srgbClr val="FFFFFF"/>
                </a:solidFill>
                <a:latin typeface="Malgun Gothic"/>
              </a:rPr>
              <a:t>연결·끊기</a:t>
            </a:r>
            <a:endParaRPr sz="105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50992" y="23042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96560"/>
                </a:solidFill>
                <a:latin typeface="Malgun Gothic"/>
              </a:rPr>
              <a:t>→</a:t>
            </a:r>
          </a:p>
        </p:txBody>
      </p:sp>
      <p:sp>
        <p:nvSpPr>
          <p:cNvPr id="27" name="Oval 26"/>
          <p:cNvSpPr/>
          <p:nvPr/>
        </p:nvSpPr>
        <p:spPr>
          <a:xfrm>
            <a:off x="6309359" y="1965960"/>
            <a:ext cx="1078992" cy="1078992"/>
          </a:xfrm>
          <a:prstGeom prst="ellipse">
            <a:avLst/>
          </a:prstGeom>
          <a:solidFill>
            <a:srgbClr val="42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59" y="2221992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59" y="3200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31F1B"/>
                </a:solidFill>
                <a:latin typeface="Malgun Gothic"/>
              </a:rPr>
              <a:t>고려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36576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96560"/>
                </a:solidFill>
                <a:latin typeface="Malgun Gothic"/>
              </a:rPr>
              <a:t>균형을 잡아라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4768" y="4251960"/>
            <a:ext cx="1417320" cy="347472"/>
          </a:xfrm>
          <a:prstGeom prst="roundRect">
            <a:avLst/>
          </a:prstGeom>
          <a:solidFill>
            <a:srgbClr val="42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44768" y="4288536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기초 사활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23042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96560"/>
                </a:solidFill>
                <a:latin typeface="Malgun Gothic"/>
              </a:rPr>
              <a:t>→</a:t>
            </a:r>
          </a:p>
        </p:txBody>
      </p:sp>
      <p:sp>
        <p:nvSpPr>
          <p:cNvPr id="34" name="Oval 33"/>
          <p:cNvSpPr/>
          <p:nvPr/>
        </p:nvSpPr>
        <p:spPr>
          <a:xfrm>
            <a:off x="8183879" y="1965960"/>
            <a:ext cx="1078992" cy="1078992"/>
          </a:xfrm>
          <a:prstGeom prst="ellipse">
            <a:avLst/>
          </a:prstGeom>
          <a:solidFill>
            <a:srgbClr val="CEA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83879" y="2221992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3200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31F1B"/>
                </a:solidFill>
                <a:latin typeface="Malgun Gothic"/>
              </a:rPr>
              <a:t>조선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36576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96560"/>
                </a:solidFill>
                <a:latin typeface="Malgun Gothic"/>
              </a:rPr>
              <a:t>판 전체를 읽어라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19288" y="4251960"/>
            <a:ext cx="1417320" cy="347472"/>
          </a:xfrm>
          <a:prstGeom prst="roundRect">
            <a:avLst/>
          </a:prstGeom>
          <a:solidFill>
            <a:srgbClr val="CEA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19288" y="4288536"/>
            <a:ext cx="14173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b="1" dirty="0">
                <a:solidFill>
                  <a:srgbClr val="FFFFFF"/>
                </a:solidFill>
                <a:latin typeface="Malgun Gothic"/>
              </a:rPr>
              <a:t>공배와 </a:t>
            </a:r>
            <a:r>
              <a:rPr lang="ko-KR" altLang="en-US" sz="1050" b="1" dirty="0" err="1">
                <a:solidFill>
                  <a:srgbClr val="FFFFFF"/>
                </a:solidFill>
                <a:latin typeface="Malgun Gothic"/>
              </a:rPr>
              <a:t>집계산</a:t>
            </a:r>
            <a:endParaRPr sz="105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400032" y="23042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96560"/>
                </a:solidFill>
                <a:latin typeface="Malgun Gothic"/>
              </a:rPr>
              <a:t>→</a:t>
            </a:r>
          </a:p>
        </p:txBody>
      </p:sp>
      <p:sp>
        <p:nvSpPr>
          <p:cNvPr id="41" name="Oval 40"/>
          <p:cNvSpPr/>
          <p:nvPr/>
        </p:nvSpPr>
        <p:spPr>
          <a:xfrm>
            <a:off x="10058400" y="1965960"/>
            <a:ext cx="1078992" cy="1078992"/>
          </a:xfrm>
          <a:prstGeom prst="ellipse">
            <a:avLst/>
          </a:prstGeom>
          <a:solidFill>
            <a:srgbClr val="744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058400" y="2221992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29800" y="3200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31F1B"/>
                </a:solidFill>
                <a:latin typeface="Malgun Gothic"/>
              </a:rPr>
              <a:t>근현대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29800" y="36576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96560"/>
                </a:solidFill>
                <a:latin typeface="Malgun Gothic"/>
              </a:rPr>
              <a:t>선택의 결과를 생각하라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93808" y="4251960"/>
            <a:ext cx="1417320" cy="347472"/>
          </a:xfrm>
          <a:prstGeom prst="roundRect">
            <a:avLst/>
          </a:prstGeom>
          <a:solidFill>
            <a:srgbClr val="744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893808" y="4288536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종합 미션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1663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각 시대 = 역사 스토리 1개 + 바둑 개념 1개 + 미션 3개 + 퀴즈 3개 + 수집 보상 1개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65196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560"/>
                </a:solidFill>
                <a:latin typeface="Malgun Gothic"/>
              </a:rPr>
              <a:t>바둑타고 한국사 여행 · Website Planning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07040" y="651967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6560"/>
                </a:solidFill>
                <a:latin typeface="Malgun Gothic"/>
              </a:rPr>
              <a:t>2026.08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31F1B"/>
                </a:solidFill>
                <a:latin typeface="Malgun Gothic"/>
              </a:rPr>
              <a:t>콘텐츠 1강의 표준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418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6560"/>
                </a:solidFill>
                <a:latin typeface="Malgun Gothic"/>
              </a:rPr>
              <a:t>교재 페이지와 웹 콘텐츠가 1:1로 연결되도록 설계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960120" cy="45720"/>
          </a:xfrm>
          <a:prstGeom prst="rect">
            <a:avLst/>
          </a:prstGeom>
          <a:solidFill>
            <a:srgbClr val="B1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744C2B"/>
                </a:solidFill>
                <a:latin typeface="Malgun Gothic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13A2E"/>
                </a:solidFill>
                <a:latin typeface="Malgun Gothic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1627632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73152" cy="2331720"/>
          </a:xfrm>
          <a:prstGeom prst="rect">
            <a:avLst/>
          </a:prstGeom>
          <a:solidFill>
            <a:srgbClr val="B1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222199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역사 이야기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660904"/>
            <a:ext cx="128016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짧은 애니/카드뉴스</a:t>
            </a:r>
            <a:br/>
            <a:r>
              <a:t>2~3분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16916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13A2E"/>
                </a:solidFill>
                <a:latin typeface="Malgun Gothic"/>
              </a:rP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42032" y="2057400"/>
            <a:ext cx="1627632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542032" y="2057400"/>
            <a:ext cx="73152" cy="2331720"/>
          </a:xfrm>
          <a:prstGeom prst="rect">
            <a:avLst/>
          </a:prstGeom>
          <a:solidFill>
            <a:srgbClr val="B5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0" y="222199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오늘의 한 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660904"/>
            <a:ext cx="128016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바둑 개념 설명</a:t>
            </a:r>
            <a:br/>
            <a:r>
              <a:t>1개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4" y="16916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13A2E"/>
                </a:solidFill>
                <a:latin typeface="Malgun Gothic"/>
              </a:rPr>
              <a:t>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43984" y="2057400"/>
            <a:ext cx="1627632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43984" y="2057400"/>
            <a:ext cx="73152" cy="2331720"/>
          </a:xfrm>
          <a:prstGeom prst="rect">
            <a:avLst/>
          </a:prstGeom>
          <a:solidFill>
            <a:srgbClr val="49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45152" y="222199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판 위의 미션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2660904"/>
            <a:ext cx="128016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인터랙티브 문제</a:t>
            </a:r>
            <a:br/>
            <a:r>
              <a:t>3문항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16916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13A2E"/>
                </a:solidFill>
                <a:latin typeface="Malgun Gothic"/>
              </a:rPr>
              <a:t>04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45936" y="2057400"/>
            <a:ext cx="1627632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45936" y="2057400"/>
            <a:ext cx="73152" cy="2331720"/>
          </a:xfrm>
          <a:prstGeom prst="rect">
            <a:avLst/>
          </a:prstGeom>
          <a:solidFill>
            <a:srgbClr val="42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47104" y="222199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역사 미션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2660904"/>
            <a:ext cx="128016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OX·객관식·드래그</a:t>
            </a:r>
            <a:br/>
            <a:r>
              <a:t>3문항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16916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13A2E"/>
                </a:solidFill>
                <a:latin typeface="Malgun Gothic"/>
              </a:rPr>
              <a:t>05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7888" y="2057400"/>
            <a:ext cx="1627632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47888" y="2057400"/>
            <a:ext cx="73152" cy="2331720"/>
          </a:xfrm>
          <a:prstGeom prst="rect">
            <a:avLst/>
          </a:prstGeom>
          <a:solidFill>
            <a:srgbClr val="CEA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49056" y="222199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생각 한 수!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9056" y="2660904"/>
            <a:ext cx="128016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역사와 바둑의</a:t>
            </a:r>
            <a:br/>
            <a:r>
              <a:t>공통 사고 연결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16916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13A2E"/>
                </a:solidFill>
                <a:latin typeface="Malgun Gothic"/>
              </a:rPr>
              <a:t>06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49840" y="2057400"/>
            <a:ext cx="1627632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149840" y="2057400"/>
            <a:ext cx="73152" cy="2331720"/>
          </a:xfrm>
          <a:prstGeom prst="rect">
            <a:avLst/>
          </a:prstGeom>
          <a:solidFill>
            <a:srgbClr val="744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351008" y="222199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보상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51008" y="2660904"/>
            <a:ext cx="128016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별·배지·유물카드</a:t>
            </a:r>
            <a:br/>
            <a:r>
              <a:t>획득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892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44C2B"/>
                </a:solidFill>
                <a:latin typeface="Malgun Gothic"/>
              </a:rPr>
              <a:t>예: 구석기시대 — ‘주변 환경을 살펴라’ → 돌을 놓기 전 주변 활로를 먼저 확인하는 바둑 미션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532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96560"/>
                </a:solidFill>
                <a:latin typeface="Malgun Gothic"/>
              </a:rPr>
              <a:t>교재 QR → 해당 강의 바로 열기  /  강의 종료 → 다음 시대 미션 자동 추천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5196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560"/>
                </a:solidFill>
                <a:latin typeface="Malgun Gothic"/>
              </a:rPr>
              <a:t>바둑타고 한국사 여행 · Website Planning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651967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6560"/>
                </a:solidFill>
                <a:latin typeface="Malgun Gothic"/>
              </a:rPr>
              <a:t>2026.08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31F1B"/>
                </a:solidFill>
                <a:latin typeface="Malgun Gothic"/>
              </a:rPr>
              <a:t>메인 화면 와이어프레임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418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6560"/>
                </a:solidFill>
                <a:latin typeface="Malgun Gothic"/>
              </a:rPr>
              <a:t>‘쇼핑몰 첫 화면’보다 ‘여행을 시작하는 게임 화면’에 가깝게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960120" cy="45720"/>
          </a:xfrm>
          <a:prstGeom prst="rect">
            <a:avLst/>
          </a:prstGeom>
          <a:solidFill>
            <a:srgbClr val="B1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744C2B"/>
                </a:solidFill>
                <a:latin typeface="Malgun Gothic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10652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7556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1F1B"/>
                </a:solidFill>
                <a:latin typeface="Malgun Gothic"/>
              </a:rPr>
              <a:t>바둑타고 한국사 여행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6560"/>
                </a:solidFill>
                <a:latin typeface="Malgun Gothic"/>
              </a:rPr>
              <a:t>한국사 여행   바둑 미션   오늘의 교실   교재·자료실   나의 여행지도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240280"/>
            <a:ext cx="6583680" cy="1920240"/>
          </a:xfrm>
          <a:prstGeom prst="roundRect">
            <a:avLst/>
          </a:prstGeom>
          <a:solidFill>
            <a:srgbClr val="231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2578608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algun Gothic"/>
              </a:rPr>
              <a:t>한 수 두고,</a:t>
            </a:r>
            <a:br/>
            <a:r>
              <a:t>한 시대를 만나다.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3657600"/>
            <a:ext cx="1508760" cy="347472"/>
          </a:xfrm>
          <a:prstGeom prst="roundRect">
            <a:avLst/>
          </a:prstGeom>
          <a:solidFill>
            <a:srgbClr val="B1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17320" y="3694176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여행 시작하기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2240280"/>
            <a:ext cx="2971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09560" y="2240280"/>
            <a:ext cx="73152" cy="1920240"/>
          </a:xfrm>
          <a:prstGeom prst="rect">
            <a:avLst/>
          </a:prstGeom>
          <a:solidFill>
            <a:srgbClr val="49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10728" y="2404872"/>
            <a:ext cx="2624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오늘의 미션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8" y="2843784"/>
            <a:ext cx="2624328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구석기시대</a:t>
            </a:r>
            <a:br/>
            <a:r>
              <a:t>주변을 먼저 살펴보세요!</a:t>
            </a:r>
            <a:br/>
            <a:r>
              <a:t>★ 2/3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4434840"/>
            <a:ext cx="2194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51560" y="4434840"/>
            <a:ext cx="73152" cy="1097280"/>
          </a:xfrm>
          <a:prstGeom prst="rect">
            <a:avLst/>
          </a:prstGeom>
          <a:solidFill>
            <a:srgbClr val="B1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52728" y="4599431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시대별 여행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5038344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바로가기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38728" y="4434840"/>
            <a:ext cx="2194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538728" y="4434840"/>
            <a:ext cx="73152" cy="1097280"/>
          </a:xfrm>
          <a:prstGeom prst="rect">
            <a:avLst/>
          </a:prstGeom>
          <a:solidFill>
            <a:srgbClr val="B5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39896" y="4599431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바둑 미션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9896" y="5038344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바로가기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25896" y="4434840"/>
            <a:ext cx="2194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025896" y="4434840"/>
            <a:ext cx="73152" cy="1097280"/>
          </a:xfrm>
          <a:prstGeom prst="rect">
            <a:avLst/>
          </a:prstGeom>
          <a:solidFill>
            <a:srgbClr val="42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27064" y="4599431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교실 자료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7064" y="5038344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바로가기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13064" y="4434840"/>
            <a:ext cx="2194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513064" y="4434840"/>
            <a:ext cx="73152" cy="1097280"/>
          </a:xfrm>
          <a:prstGeom prst="rect">
            <a:avLst/>
          </a:prstGeom>
          <a:solidFill>
            <a:srgbClr val="CEA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714232" y="4599431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나의 배지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14232" y="5038344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바로가기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5196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560"/>
                </a:solidFill>
                <a:latin typeface="Malgun Gothic"/>
              </a:rPr>
              <a:t>바둑타고 한국사 여행 · Website Planning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51967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6560"/>
                </a:solidFill>
                <a:latin typeface="Malgun Gothic"/>
              </a:rPr>
              <a:t>2026.08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31F1B"/>
                </a:solidFill>
                <a:latin typeface="Malgun Gothic"/>
              </a:rPr>
              <a:t>게임화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418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6560"/>
                </a:solidFill>
                <a:latin typeface="Malgun Gothic"/>
              </a:rPr>
              <a:t>학습을 ‘완료’가 아니라 ‘수집하고 다음 시대로 이동하는 경험’으로 전환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960120" cy="45720"/>
          </a:xfrm>
          <a:prstGeom prst="rect">
            <a:avLst/>
          </a:prstGeom>
          <a:solidFill>
            <a:srgbClr val="B1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744C2B"/>
                </a:solidFill>
                <a:latin typeface="Malgun Gothic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73152" cy="1417320"/>
          </a:xfrm>
          <a:prstGeom prst="rect">
            <a:avLst/>
          </a:prstGeom>
          <a:solidFill>
            <a:srgbClr val="CEA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10512"/>
            <a:ext cx="2990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별 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49424"/>
            <a:ext cx="299008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문제 정답·강의 완료로 획득</a:t>
            </a:r>
            <a:br/>
            <a:r>
              <a:t>3별 도전 구조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6459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07408" y="1645920"/>
            <a:ext cx="73152" cy="1417320"/>
          </a:xfrm>
          <a:prstGeom prst="rect">
            <a:avLst/>
          </a:prstGeom>
          <a:solidFill>
            <a:srgbClr val="B1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8576" y="1810512"/>
            <a:ext cx="2990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시대 배지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249424"/>
            <a:ext cx="299008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시대별 챕터 완료 시 지급</a:t>
            </a:r>
            <a:br/>
            <a:r>
              <a:t>‘고조선 탐험가’ 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6459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83296" y="1645920"/>
            <a:ext cx="73152" cy="1417320"/>
          </a:xfrm>
          <a:prstGeom prst="rect">
            <a:avLst/>
          </a:prstGeom>
          <a:solidFill>
            <a:srgbClr val="49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4464" y="1810512"/>
            <a:ext cx="2990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유물 카드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249424"/>
            <a:ext cx="299008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빗살무늬토기·청동검·금관 등</a:t>
            </a:r>
            <a:br/>
            <a:r>
              <a:t>컬렉션 북 완성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01568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401568"/>
            <a:ext cx="73152" cy="1417320"/>
          </a:xfrm>
          <a:prstGeom prst="rect">
            <a:avLst/>
          </a:prstGeom>
          <a:solidFill>
            <a:srgbClr val="42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3566160"/>
            <a:ext cx="2990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연속 학습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005072"/>
            <a:ext cx="299008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주 3회/5회 학습 스탬프</a:t>
            </a:r>
            <a:br/>
            <a:r>
              <a:t>과도한 경쟁보다 습관 중심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7408" y="3401568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07408" y="3401568"/>
            <a:ext cx="73152" cy="1417320"/>
          </a:xfrm>
          <a:prstGeom prst="rect">
            <a:avLst/>
          </a:prstGeom>
          <a:solidFill>
            <a:srgbClr val="B5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08576" y="3566160"/>
            <a:ext cx="2990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여행 지도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576" y="4005072"/>
            <a:ext cx="299008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완료한 시대가 지도에서 개방</a:t>
            </a:r>
            <a:br/>
            <a:r>
              <a:t>다음 목적지 시각화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83296" y="3401568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83296" y="3401568"/>
            <a:ext cx="73152" cy="1417320"/>
          </a:xfrm>
          <a:prstGeom prst="rect">
            <a:avLst/>
          </a:prstGeom>
          <a:solidFill>
            <a:srgbClr val="744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84464" y="3566160"/>
            <a:ext cx="2990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반별 미션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4" y="4005072"/>
            <a:ext cx="299008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학원·방과후 단위로 과제 배포</a:t>
            </a:r>
            <a:br/>
            <a:r>
              <a:t>협동형 클래스 목표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1F1B"/>
                </a:solidFill>
                <a:latin typeface="Malgun Gothic"/>
              </a:rPr>
              <a:t>원칙: 순위 경쟁보다 ‘개인 성장·수집·탐험’에 초점 → 초등 학습 서비스에 적합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5196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560"/>
                </a:solidFill>
                <a:latin typeface="Malgun Gothic"/>
              </a:rPr>
              <a:t>바둑타고 한국사 여행 · Website Planning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51967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6560"/>
                </a:solidFill>
                <a:latin typeface="Malgun Gothic"/>
              </a:rPr>
              <a:t>2026.08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31F1B"/>
                </a:solidFill>
                <a:latin typeface="Malgun Gothic"/>
              </a:rPr>
              <a:t>‘오늘의 교실’ — 지도자용 수업도우미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418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6560"/>
                </a:solidFill>
                <a:latin typeface="Malgun Gothic"/>
              </a:rPr>
              <a:t>상상바둑의 수업도우미 개념을 한국사 융합수업용으로 확장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960120" cy="45720"/>
          </a:xfrm>
          <a:prstGeom prst="rect">
            <a:avLst/>
          </a:prstGeom>
          <a:solidFill>
            <a:srgbClr val="B1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744C2B"/>
                </a:solidFill>
                <a:latin typeface="Malgun Gothic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2148840" cy="347472"/>
          </a:xfrm>
          <a:prstGeom prst="roundRect">
            <a:avLst/>
          </a:prstGeom>
          <a:solidFill>
            <a:srgbClr val="B1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82496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수업용 5분 영상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76272"/>
            <a:ext cx="2148840" cy="347472"/>
          </a:xfrm>
          <a:prstGeom prst="roundRect">
            <a:avLst/>
          </a:prstGeom>
          <a:solidFill>
            <a:srgbClr val="B5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212848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빔프로젝터용 PPT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06624"/>
            <a:ext cx="2148840" cy="347472"/>
          </a:xfrm>
          <a:prstGeom prst="roundRect">
            <a:avLst/>
          </a:prstGeom>
          <a:solidFill>
            <a:srgbClr val="49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인쇄 활동지 PDF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36976"/>
            <a:ext cx="2148840" cy="347472"/>
          </a:xfrm>
          <a:prstGeom prst="roundRect">
            <a:avLst/>
          </a:prstGeom>
          <a:solidFill>
            <a:srgbClr val="42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273552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역사 퀴즈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67328"/>
            <a:ext cx="2148840" cy="347472"/>
          </a:xfrm>
          <a:prstGeom prst="roundRect">
            <a:avLst/>
          </a:prstGeom>
          <a:solidFill>
            <a:srgbClr val="CEA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803904"/>
            <a:ext cx="21488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b="1" dirty="0">
                <a:solidFill>
                  <a:srgbClr val="FFFFFF"/>
                </a:solidFill>
                <a:latin typeface="Malgun Gothic"/>
              </a:rPr>
              <a:t>문제풀이</a:t>
            </a:r>
            <a:r>
              <a:rPr sz="105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Malgun Gothic"/>
              </a:rPr>
              <a:t>미션</a:t>
            </a:r>
            <a:endParaRPr sz="105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22960" y="4297680"/>
            <a:ext cx="2148840" cy="347472"/>
          </a:xfrm>
          <a:prstGeom prst="roundRect">
            <a:avLst/>
          </a:prstGeom>
          <a:solidFill>
            <a:srgbClr val="744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334256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정답·해설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828031"/>
            <a:ext cx="2148840" cy="347472"/>
          </a:xfrm>
          <a:prstGeom prst="roundRect">
            <a:avLst/>
          </a:prstGeom>
          <a:solidFill>
            <a:srgbClr val="B1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864607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수업 진행 가이드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5148" y="167792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696560"/>
                </a:solidFill>
                <a:latin typeface="Malgun Gothic"/>
              </a:rPr>
              <a:t>한 </a:t>
            </a:r>
            <a:r>
              <a:rPr sz="1600" b="1" dirty="0" err="1">
                <a:solidFill>
                  <a:srgbClr val="696560"/>
                </a:solidFill>
                <a:latin typeface="Malgun Gothic"/>
              </a:rPr>
              <a:t>강의를</a:t>
            </a:r>
            <a:r>
              <a:rPr sz="1600" b="1" dirty="0">
                <a:solidFill>
                  <a:srgbClr val="696560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696560"/>
                </a:solidFill>
                <a:latin typeface="Malgun Gothic"/>
              </a:rPr>
              <a:t>클릭하면</a:t>
            </a:r>
            <a:endParaRPr sz="1600" b="1" dirty="0">
              <a:solidFill>
                <a:srgbClr val="696560"/>
              </a:solidFill>
              <a:latin typeface="Malgun Gothi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069080" y="2331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B13A2E"/>
                </a:solidFill>
                <a:latin typeface="Malgun Gothi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66360" y="1600200"/>
            <a:ext cx="54864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166360" y="1600200"/>
            <a:ext cx="73152" cy="3611880"/>
          </a:xfrm>
          <a:prstGeom prst="rect">
            <a:avLst/>
          </a:prstGeom>
          <a:solidFill>
            <a:srgbClr val="42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67528" y="1764792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수업 패키지 자동 구성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67528" y="2203704"/>
            <a:ext cx="5138928" cy="1931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dirty="0">
                <a:solidFill>
                  <a:srgbClr val="696560"/>
                </a:solidFill>
                <a:latin typeface="Malgun Gothic"/>
              </a:rPr>
              <a:t>① </a:t>
            </a:r>
            <a:r>
              <a:rPr sz="1150" b="0" dirty="0" err="1">
                <a:solidFill>
                  <a:srgbClr val="696560"/>
                </a:solidFill>
                <a:latin typeface="Malgun Gothic"/>
              </a:rPr>
              <a:t>도입</a:t>
            </a:r>
            <a:r>
              <a:rPr sz="1150" b="0" dirty="0">
                <a:solidFill>
                  <a:srgbClr val="696560"/>
                </a:solidFill>
                <a:latin typeface="Malgun Gothic"/>
              </a:rPr>
              <a:t>: </a:t>
            </a:r>
            <a:r>
              <a:rPr sz="1150" b="0" dirty="0" err="1">
                <a:solidFill>
                  <a:srgbClr val="696560"/>
                </a:solidFill>
                <a:latin typeface="Malgun Gothic"/>
              </a:rPr>
              <a:t>역사</a:t>
            </a:r>
            <a:r>
              <a:rPr sz="1150" b="0" dirty="0">
                <a:solidFill>
                  <a:srgbClr val="696560"/>
                </a:solidFill>
                <a:latin typeface="Malgun Gothic"/>
              </a:rPr>
              <a:t> </a:t>
            </a:r>
            <a:r>
              <a:rPr sz="1150" b="0" dirty="0" err="1">
                <a:solidFill>
                  <a:srgbClr val="696560"/>
                </a:solidFill>
                <a:latin typeface="Malgun Gothic"/>
              </a:rPr>
              <a:t>장면</a:t>
            </a:r>
            <a:r>
              <a:rPr sz="1150" b="0" dirty="0">
                <a:solidFill>
                  <a:srgbClr val="696560"/>
                </a:solidFill>
                <a:latin typeface="Malgun Gothic"/>
              </a:rPr>
              <a:t> 2분</a:t>
            </a:r>
            <a:br>
              <a:rPr dirty="0"/>
            </a:br>
            <a:r>
              <a:rPr dirty="0"/>
              <a:t>② </a:t>
            </a:r>
            <a:r>
              <a:rPr dirty="0" err="1"/>
              <a:t>설명</a:t>
            </a:r>
            <a:r>
              <a:rPr dirty="0"/>
              <a:t>: </a:t>
            </a:r>
            <a:r>
              <a:rPr dirty="0" err="1"/>
              <a:t>오늘의</a:t>
            </a:r>
            <a:r>
              <a:rPr dirty="0"/>
              <a:t> </a:t>
            </a:r>
            <a:r>
              <a:rPr dirty="0" err="1"/>
              <a:t>바둑</a:t>
            </a:r>
            <a:r>
              <a:rPr dirty="0"/>
              <a:t> </a:t>
            </a:r>
            <a:r>
              <a:rPr dirty="0" err="1"/>
              <a:t>개념</a:t>
            </a:r>
            <a:r>
              <a:rPr dirty="0"/>
              <a:t> 5분</a:t>
            </a:r>
            <a:br>
              <a:rPr dirty="0"/>
            </a:br>
            <a:r>
              <a:rPr dirty="0"/>
              <a:t>③ </a:t>
            </a:r>
            <a:r>
              <a:rPr lang="ko-KR" altLang="en-US" dirty="0"/>
              <a:t>문제풀이</a:t>
            </a:r>
            <a:r>
              <a:rPr dirty="0"/>
              <a:t>: </a:t>
            </a:r>
            <a:r>
              <a:rPr dirty="0" err="1"/>
              <a:t>미션</a:t>
            </a:r>
            <a:r>
              <a:rPr dirty="0"/>
              <a:t> 10분</a:t>
            </a:r>
            <a:br>
              <a:rPr dirty="0"/>
            </a:br>
            <a:r>
              <a:rPr dirty="0"/>
              <a:t>④ </a:t>
            </a:r>
            <a:r>
              <a:rPr dirty="0" err="1"/>
              <a:t>퀴즈</a:t>
            </a:r>
            <a:r>
              <a:rPr dirty="0"/>
              <a:t>: </a:t>
            </a:r>
            <a:r>
              <a:rPr dirty="0" err="1"/>
              <a:t>역사</a:t>
            </a:r>
            <a:r>
              <a:rPr dirty="0"/>
              <a:t> </a:t>
            </a:r>
            <a:r>
              <a:rPr dirty="0" err="1"/>
              <a:t>미션</a:t>
            </a:r>
            <a:r>
              <a:rPr dirty="0"/>
              <a:t> 5분</a:t>
            </a:r>
            <a:br>
              <a:rPr dirty="0"/>
            </a:br>
            <a:r>
              <a:rPr dirty="0"/>
              <a:t>⑤ </a:t>
            </a:r>
            <a:r>
              <a:rPr dirty="0" err="1"/>
              <a:t>마무리</a:t>
            </a:r>
            <a:r>
              <a:rPr dirty="0"/>
              <a:t>: ‘</a:t>
            </a:r>
            <a:r>
              <a:rPr dirty="0" err="1"/>
              <a:t>생각</a:t>
            </a:r>
            <a:r>
              <a:rPr dirty="0"/>
              <a:t> 한 수!’ 3분</a:t>
            </a:r>
            <a:br>
              <a:rPr dirty="0"/>
            </a:br>
            <a:br>
              <a:rPr dirty="0"/>
            </a:br>
            <a:r>
              <a:rPr dirty="0"/>
              <a:t>총 25~30분 </a:t>
            </a:r>
            <a:r>
              <a:rPr dirty="0" err="1"/>
              <a:t>수업</a:t>
            </a:r>
            <a:r>
              <a:rPr dirty="0"/>
              <a:t> </a:t>
            </a:r>
            <a:r>
              <a:rPr dirty="0" err="1"/>
              <a:t>모듈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822960" y="54864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1F1B"/>
                </a:solidFill>
                <a:latin typeface="Malgun Gothic"/>
              </a:rPr>
              <a:t>지도자 입장에서는 ‘자료를 찾는 사이트’가 아니라 ‘수업을 바로 실행하는 사이트’가 되어야 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5196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560"/>
                </a:solidFill>
                <a:latin typeface="Malgun Gothic"/>
              </a:rPr>
              <a:t>바둑타고 한국사 여행 · Website Planning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51967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6560"/>
                </a:solidFill>
                <a:latin typeface="Malgun Gothic"/>
              </a:rPr>
              <a:t>2026.08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31F1B"/>
                </a:solidFill>
                <a:latin typeface="Malgun Gothic"/>
              </a:rPr>
              <a:t>회원·마이페이지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418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6560"/>
                </a:solidFill>
                <a:latin typeface="Malgun Gothic"/>
              </a:rPr>
              <a:t>상상바둑의 회원/마이페이지 구조를 ‘학습 진도 대시보드’로 강화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960120" cy="45720"/>
          </a:xfrm>
          <a:prstGeom prst="rect">
            <a:avLst/>
          </a:prstGeom>
          <a:solidFill>
            <a:srgbClr val="B1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744C2B"/>
                </a:solidFill>
                <a:latin typeface="Malgun Gothic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73152" cy="3566160"/>
          </a:xfrm>
          <a:prstGeom prst="rect">
            <a:avLst/>
          </a:prstGeom>
          <a:solidFill>
            <a:srgbClr val="B1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764792"/>
            <a:ext cx="3035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학생 대시보드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03704"/>
            <a:ext cx="3035808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• 현재 시대 / 다음 미션</a:t>
            </a:r>
            <a:br/>
            <a:r>
              <a:t>• 바둑 레벨 / 역사 레벨</a:t>
            </a:r>
            <a:br/>
            <a:r>
              <a:t>• 이번 주 학습일수</a:t>
            </a:r>
            <a:br/>
            <a:r>
              <a:t>• 획득 별·배지·유물</a:t>
            </a:r>
            <a:br/>
            <a:r>
              <a:t>• 틀린 문제 다시풀기</a:t>
            </a:r>
            <a:br/>
            <a:r>
              <a:t>• 내 여행지도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60020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07408" y="1600200"/>
            <a:ext cx="73152" cy="3566160"/>
          </a:xfrm>
          <a:prstGeom prst="rect">
            <a:avLst/>
          </a:prstGeom>
          <a:solidFill>
            <a:srgbClr val="49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8576" y="1764792"/>
            <a:ext cx="3035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학부모 리포트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203704"/>
            <a:ext cx="3035808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• 주간 학습시간</a:t>
            </a:r>
            <a:br/>
            <a:r>
              <a:t>• 바둑 정답률</a:t>
            </a:r>
            <a:br/>
            <a:r>
              <a:t>• 한국사 정답률</a:t>
            </a:r>
            <a:br/>
            <a:r>
              <a:t>• 강점/보완 영역</a:t>
            </a:r>
            <a:br/>
            <a:r>
              <a:t>• 지도자 코멘트</a:t>
            </a:r>
            <a:br/>
            <a:r>
              <a:t>• 다음 추천 강의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60020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83296" y="1600200"/>
            <a:ext cx="73152" cy="3566160"/>
          </a:xfrm>
          <a:prstGeom prst="rect">
            <a:avLst/>
          </a:prstGeom>
          <a:solidFill>
            <a:srgbClr val="42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4464" y="1764792"/>
            <a:ext cx="3035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지도자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203704"/>
            <a:ext cx="3035808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• 반/학생 등록</a:t>
            </a:r>
            <a:br/>
            <a:r>
              <a:t>• 진도 일괄 설정</a:t>
            </a:r>
            <a:br/>
            <a:r>
              <a:t>• 과제 배포</a:t>
            </a:r>
            <a:br/>
            <a:r>
              <a:t>• 학습 결과 조회</a:t>
            </a:r>
            <a:br/>
            <a:r>
              <a:t>• 교재 코드 연동</a:t>
            </a:r>
            <a:br/>
            <a:r>
              <a:t>• 기관용 결제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6235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44C2B"/>
                </a:solidFill>
                <a:latin typeface="Malgun Gothic"/>
              </a:rPr>
              <a:t>핵심 데이터: ‘어디까지 봤는가’보다 ‘무엇을 이해했고 어디에서 막혔는가’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5196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560"/>
                </a:solidFill>
                <a:latin typeface="Malgun Gothic"/>
              </a:rPr>
              <a:t>바둑타고 한국사 여행 · Website Planning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51967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6560"/>
                </a:solidFill>
                <a:latin typeface="Malgun Gothic"/>
              </a:rPr>
              <a:t>2026.08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31F1B"/>
                </a:solidFill>
                <a:latin typeface="Malgun Gothic"/>
              </a:rPr>
              <a:t>콘텐츠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418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6560"/>
                </a:solidFill>
                <a:latin typeface="Malgun Gothic"/>
              </a:rPr>
              <a:t>초기에는 선사~삼국 중심 MVP, 이후 전 시대와 심화 바둑으로 확장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960120" cy="45720"/>
          </a:xfrm>
          <a:prstGeom prst="rect">
            <a:avLst/>
          </a:prstGeom>
          <a:solidFill>
            <a:srgbClr val="B1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744C2B"/>
                </a:solidFill>
                <a:latin typeface="Malgun Gothic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960120" cy="347472"/>
          </a:xfrm>
          <a:prstGeom prst="roundRect">
            <a:avLst/>
          </a:prstGeom>
          <a:solidFill>
            <a:srgbClr val="B1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82496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66420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1F1B"/>
                </a:solidFill>
                <a:latin typeface="Malgun Gothic"/>
              </a:rPr>
              <a:t>선사·고조선·삼국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642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6560"/>
                </a:solidFill>
                <a:latin typeface="Malgun Gothic"/>
              </a:rPr>
              <a:t>24강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6642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6560"/>
                </a:solidFill>
                <a:latin typeface="Malgun Gothic"/>
              </a:rPr>
              <a:t>9줄/13줄 입문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66420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6560"/>
                </a:solidFill>
                <a:latin typeface="Malgun Gothic"/>
              </a:rPr>
              <a:t>영상+퀴즈+미션+교재QR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33472"/>
            <a:ext cx="960120" cy="347472"/>
          </a:xfrm>
          <a:prstGeom prst="roundRect">
            <a:avLst/>
          </a:prstGeom>
          <a:solidFill>
            <a:srgbClr val="B5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670048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2단계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517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1F1B"/>
                </a:solidFill>
                <a:latin typeface="Malgun Gothic"/>
              </a:rPr>
              <a:t>고려·조선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6517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6560"/>
                </a:solidFill>
                <a:latin typeface="Malgun Gothic"/>
              </a:rPr>
              <a:t>24강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651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6560"/>
                </a:solidFill>
                <a:latin typeface="Malgun Gothic"/>
              </a:rPr>
              <a:t>연결·사활·포석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6517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6560"/>
                </a:solidFill>
                <a:latin typeface="Malgun Gothic"/>
              </a:rPr>
              <a:t>배지·유물카드·리포트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21024"/>
            <a:ext cx="960120" cy="347472"/>
          </a:xfrm>
          <a:prstGeom prst="roundRect">
            <a:avLst/>
          </a:prstGeom>
          <a:solidFill>
            <a:srgbClr val="49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657600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3단계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63931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1F1B"/>
                </a:solidFill>
                <a:latin typeface="Malgun Gothic"/>
              </a:rPr>
              <a:t>근현대·인물사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63931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6560"/>
                </a:solidFill>
                <a:latin typeface="Malgun Gothic"/>
              </a:rPr>
              <a:t>24강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36393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6560"/>
                </a:solidFill>
                <a:latin typeface="Malgun Gothic"/>
              </a:rPr>
              <a:t>종합 문제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63931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6560"/>
                </a:solidFill>
                <a:latin typeface="Malgun Gothic"/>
              </a:rPr>
              <a:t>반별 미션·기관관리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608576"/>
            <a:ext cx="960120" cy="347472"/>
          </a:xfrm>
          <a:prstGeom prst="roundRect">
            <a:avLst/>
          </a:prstGeom>
          <a:solidFill>
            <a:srgbClr val="42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645152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확장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4626864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1F1B"/>
                </a:solidFill>
                <a:latin typeface="Malgun Gothic"/>
              </a:rPr>
              <a:t>지역사·문화유산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62686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6560"/>
                </a:solidFill>
                <a:latin typeface="Malgun Gothic"/>
              </a:rPr>
              <a:t>상시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46268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6560"/>
                </a:solidFill>
                <a:latin typeface="Malgun Gothic"/>
              </a:rPr>
              <a:t>테마 미션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62686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6560"/>
                </a:solidFill>
                <a:latin typeface="Malgun Gothic"/>
              </a:rPr>
              <a:t>현장체험·박물관 연계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150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13A2E"/>
                </a:solidFill>
                <a:latin typeface="Malgun Gothic"/>
              </a:rPr>
              <a:t>권장: 첫 출시 콘텐츠를 욕심내서 전 시대에 펼치지 말고, 24강 내외의 완성도 높은 MVP로 시작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5196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560"/>
                </a:solidFill>
                <a:latin typeface="Malgun Gothic"/>
              </a:rPr>
              <a:t>바둑타고 한국사 여행 · Website Planning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51967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6560"/>
                </a:solidFill>
                <a:latin typeface="Malgun Gothic"/>
              </a:rPr>
              <a:t>2026.08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31F1B"/>
                </a:solidFill>
                <a:latin typeface="Malgun Gothic"/>
              </a:rPr>
              <a:t>운영·수익모델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418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6560"/>
                </a:solidFill>
                <a:latin typeface="Malgun Gothic"/>
              </a:rPr>
              <a:t>무료 체험으로 진입시키고, 교재·구독·기관 라이선스로 확장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960120" cy="45720"/>
          </a:xfrm>
          <a:prstGeom prst="rect">
            <a:avLst/>
          </a:prstGeom>
          <a:solidFill>
            <a:srgbClr val="B1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744C2B"/>
                </a:solidFill>
                <a:latin typeface="Malgun Gothic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560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73152" cy="3474720"/>
          </a:xfrm>
          <a:prstGeom prst="rect">
            <a:avLst/>
          </a:prstGeom>
          <a:solidFill>
            <a:srgbClr val="B1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764792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무료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03704"/>
            <a:ext cx="2212848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696560"/>
                </a:solidFill>
                <a:latin typeface="Malgun Gothic"/>
              </a:rPr>
              <a:t>• </a:t>
            </a:r>
            <a:r>
              <a:rPr sz="1100" b="0" dirty="0" err="1">
                <a:solidFill>
                  <a:srgbClr val="696560"/>
                </a:solidFill>
                <a:latin typeface="Malgun Gothic"/>
              </a:rPr>
              <a:t>시대별</a:t>
            </a:r>
            <a:r>
              <a:rPr sz="1100" b="0" dirty="0">
                <a:solidFill>
                  <a:srgbClr val="696560"/>
                </a:solidFill>
                <a:latin typeface="Malgun Gothic"/>
              </a:rPr>
              <a:t> 1강 </a:t>
            </a:r>
            <a:r>
              <a:rPr sz="1100" b="0" dirty="0" err="1">
                <a:solidFill>
                  <a:srgbClr val="696560"/>
                </a:solidFill>
                <a:latin typeface="Malgun Gothic"/>
              </a:rPr>
              <a:t>체험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샘플</a:t>
            </a:r>
            <a:r>
              <a:rPr sz="1600" dirty="0"/>
              <a:t> </a:t>
            </a:r>
            <a:r>
              <a:rPr sz="1600" dirty="0" err="1"/>
              <a:t>영상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일부</a:t>
            </a:r>
            <a:r>
              <a:rPr sz="1600" dirty="0"/>
              <a:t> </a:t>
            </a:r>
            <a:r>
              <a:rPr sz="1600" dirty="0" err="1"/>
              <a:t>퀴즈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학부모</a:t>
            </a:r>
            <a:r>
              <a:rPr sz="1600" dirty="0"/>
              <a:t> </a:t>
            </a:r>
            <a:r>
              <a:rPr sz="1600" dirty="0" err="1"/>
              <a:t>소개</a:t>
            </a:r>
            <a:r>
              <a:rPr sz="1600" dirty="0"/>
              <a:t> </a:t>
            </a:r>
            <a:r>
              <a:rPr sz="1600" dirty="0" err="1"/>
              <a:t>콘텐츠</a:t>
            </a:r>
            <a:br>
              <a:rPr sz="1600" dirty="0"/>
            </a:br>
            <a:br>
              <a:rPr sz="1600" dirty="0"/>
            </a:br>
            <a:r>
              <a:rPr sz="1600" dirty="0" err="1"/>
              <a:t>목표</a:t>
            </a:r>
            <a:r>
              <a:rPr sz="1600" dirty="0"/>
              <a:t>: </a:t>
            </a:r>
            <a:r>
              <a:rPr sz="1600" dirty="0" err="1"/>
              <a:t>회원가입</a:t>
            </a:r>
            <a:endParaRPr sz="1600" dirty="0"/>
          </a:p>
        </p:txBody>
      </p:sp>
      <p:sp>
        <p:nvSpPr>
          <p:cNvPr id="10" name="Rounded Rectangle 9"/>
          <p:cNvSpPr/>
          <p:nvPr/>
        </p:nvSpPr>
        <p:spPr>
          <a:xfrm>
            <a:off x="3456432" y="1600200"/>
            <a:ext cx="2560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56432" y="1600200"/>
            <a:ext cx="73152" cy="3474720"/>
          </a:xfrm>
          <a:prstGeom prst="rect">
            <a:avLst/>
          </a:prstGeom>
          <a:solidFill>
            <a:srgbClr val="B5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1764792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개인 구독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203704"/>
            <a:ext cx="2212848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696560"/>
                </a:solidFill>
                <a:latin typeface="Malgun Gothic"/>
              </a:rPr>
              <a:t>• </a:t>
            </a:r>
            <a:r>
              <a:rPr sz="1100" b="0" dirty="0" err="1">
                <a:solidFill>
                  <a:srgbClr val="696560"/>
                </a:solidFill>
                <a:latin typeface="Malgun Gothic"/>
              </a:rPr>
              <a:t>전체</a:t>
            </a:r>
            <a:r>
              <a:rPr sz="1100" b="0" dirty="0">
                <a:solidFill>
                  <a:srgbClr val="696560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696560"/>
                </a:solidFill>
                <a:latin typeface="Malgun Gothic"/>
              </a:rPr>
              <a:t>강의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미션·배지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학습</a:t>
            </a:r>
            <a:r>
              <a:rPr sz="1600" dirty="0"/>
              <a:t> </a:t>
            </a:r>
            <a:r>
              <a:rPr sz="1600" dirty="0" err="1"/>
              <a:t>리포트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틀린</a:t>
            </a:r>
            <a:r>
              <a:rPr sz="1600" dirty="0"/>
              <a:t> </a:t>
            </a:r>
            <a:r>
              <a:rPr sz="1600" dirty="0" err="1"/>
              <a:t>문제</a:t>
            </a:r>
            <a:r>
              <a:rPr sz="1600" dirty="0"/>
              <a:t> </a:t>
            </a:r>
            <a:r>
              <a:rPr sz="1600" dirty="0" err="1"/>
              <a:t>복습</a:t>
            </a:r>
            <a:br>
              <a:rPr sz="1600" dirty="0"/>
            </a:br>
            <a:br>
              <a:rPr sz="1600" dirty="0"/>
            </a:br>
            <a:r>
              <a:rPr sz="1600" dirty="0"/>
              <a:t>월/</a:t>
            </a:r>
            <a:r>
              <a:rPr sz="1600" dirty="0" err="1"/>
              <a:t>분기</a:t>
            </a:r>
            <a:r>
              <a:rPr sz="1600" dirty="0"/>
              <a:t> </a:t>
            </a:r>
            <a:r>
              <a:rPr sz="1600" dirty="0" err="1"/>
              <a:t>구독</a:t>
            </a:r>
            <a:endParaRPr sz="1600" dirty="0"/>
          </a:p>
        </p:txBody>
      </p:sp>
      <p:sp>
        <p:nvSpPr>
          <p:cNvPr id="14" name="Rounded Rectangle 13"/>
          <p:cNvSpPr/>
          <p:nvPr/>
        </p:nvSpPr>
        <p:spPr>
          <a:xfrm>
            <a:off x="6181344" y="1600200"/>
            <a:ext cx="2560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81344" y="1600200"/>
            <a:ext cx="73152" cy="3474720"/>
          </a:xfrm>
          <a:prstGeom prst="rect">
            <a:avLst/>
          </a:prstGeom>
          <a:solidFill>
            <a:srgbClr val="49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764792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교재 패키지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203704"/>
            <a:ext cx="2212848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696560"/>
                </a:solidFill>
                <a:latin typeface="Malgun Gothic"/>
              </a:rPr>
              <a:t>• </a:t>
            </a:r>
            <a:r>
              <a:rPr sz="1100" b="0" dirty="0" err="1">
                <a:solidFill>
                  <a:srgbClr val="696560"/>
                </a:solidFill>
                <a:latin typeface="Malgun Gothic"/>
              </a:rPr>
              <a:t>워크북</a:t>
            </a:r>
            <a:br>
              <a:rPr sz="1600" dirty="0"/>
            </a:br>
            <a:r>
              <a:rPr sz="1600" dirty="0"/>
              <a:t>• QR </a:t>
            </a:r>
            <a:r>
              <a:rPr sz="1600" dirty="0" err="1"/>
              <a:t>강의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체험키트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바둑판</a:t>
            </a:r>
            <a:r>
              <a:rPr sz="1600" dirty="0"/>
              <a:t> </a:t>
            </a:r>
            <a:r>
              <a:rPr sz="1600" dirty="0" err="1"/>
              <a:t>세트</a:t>
            </a:r>
            <a:br>
              <a:rPr sz="1600" dirty="0"/>
            </a:br>
            <a:br>
              <a:rPr sz="1600" dirty="0"/>
            </a:br>
            <a:r>
              <a:rPr sz="1600" dirty="0" err="1"/>
              <a:t>온라인몰</a:t>
            </a:r>
            <a:r>
              <a:rPr sz="1600" dirty="0"/>
              <a:t> </a:t>
            </a:r>
            <a:r>
              <a:rPr sz="1600" dirty="0" err="1"/>
              <a:t>연계</a:t>
            </a:r>
            <a:endParaRPr sz="1600" dirty="0"/>
          </a:p>
        </p:txBody>
      </p:sp>
      <p:sp>
        <p:nvSpPr>
          <p:cNvPr id="18" name="Rounded Rectangle 17"/>
          <p:cNvSpPr/>
          <p:nvPr/>
        </p:nvSpPr>
        <p:spPr>
          <a:xfrm>
            <a:off x="8906256" y="1600200"/>
            <a:ext cx="2560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06256" y="1600200"/>
            <a:ext cx="73152" cy="3474720"/>
          </a:xfrm>
          <a:prstGeom prst="rect">
            <a:avLst/>
          </a:prstGeom>
          <a:solidFill>
            <a:srgbClr val="42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07424" y="1764792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기관 라이선스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2203704"/>
            <a:ext cx="2212848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696560"/>
                </a:solidFill>
                <a:latin typeface="Malgun Gothic"/>
              </a:rPr>
              <a:t>• </a:t>
            </a:r>
            <a:r>
              <a:rPr sz="1100" b="0" dirty="0" err="1">
                <a:solidFill>
                  <a:srgbClr val="696560"/>
                </a:solidFill>
                <a:latin typeface="Malgun Gothic"/>
              </a:rPr>
              <a:t>학원</a:t>
            </a:r>
            <a:r>
              <a:rPr sz="1100" b="0" dirty="0">
                <a:solidFill>
                  <a:srgbClr val="696560"/>
                </a:solidFill>
                <a:latin typeface="Malgun Gothic"/>
              </a:rPr>
              <a:t>/</a:t>
            </a:r>
            <a:r>
              <a:rPr sz="1100" b="0" dirty="0" err="1">
                <a:solidFill>
                  <a:srgbClr val="696560"/>
                </a:solidFill>
                <a:latin typeface="Malgun Gothic"/>
              </a:rPr>
              <a:t>방과후</a:t>
            </a:r>
            <a:br>
              <a:rPr sz="1600" dirty="0"/>
            </a:br>
            <a:r>
              <a:rPr sz="1600" dirty="0"/>
              <a:t>• 반 </a:t>
            </a:r>
            <a:r>
              <a:rPr sz="1600" dirty="0" err="1"/>
              <a:t>관리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수업자료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학생</a:t>
            </a:r>
            <a:r>
              <a:rPr sz="1600" dirty="0"/>
              <a:t> </a:t>
            </a:r>
            <a:r>
              <a:rPr sz="1600" dirty="0" err="1"/>
              <a:t>계정</a:t>
            </a:r>
            <a:br>
              <a:rPr sz="1600" dirty="0"/>
            </a:br>
            <a:br>
              <a:rPr sz="1600" dirty="0"/>
            </a:br>
            <a:r>
              <a:rPr sz="1600" dirty="0" err="1"/>
              <a:t>연간</a:t>
            </a:r>
            <a:r>
              <a:rPr sz="1600" dirty="0"/>
              <a:t> </a:t>
            </a:r>
            <a:r>
              <a:rPr sz="1600" dirty="0" err="1"/>
              <a:t>계약</a:t>
            </a:r>
            <a:endParaRPr sz="1600" dirty="0"/>
          </a:p>
        </p:txBody>
      </p:sp>
      <p:sp>
        <p:nvSpPr>
          <p:cNvPr id="22" name="TextBox 21"/>
          <p:cNvSpPr txBox="1"/>
          <p:nvPr/>
        </p:nvSpPr>
        <p:spPr>
          <a:xfrm>
            <a:off x="777240" y="55321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1F1B"/>
                </a:solidFill>
                <a:latin typeface="Malgun Gothic"/>
              </a:rPr>
              <a:t>전환 퍼널: 샘플 강의 → 회원가입 → 7일 체험 → 교재/구독 → 학원·학교 기관도입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5196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560"/>
                </a:solidFill>
                <a:latin typeface="Malgun Gothic"/>
              </a:rPr>
              <a:t>바둑타고 한국사 여행 · Website Planning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51967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6560"/>
                </a:solidFill>
                <a:latin typeface="Malgun Gothic"/>
              </a:rPr>
              <a:t>2026.08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31F1B"/>
                </a:solidFill>
                <a:latin typeface="Malgun Gothic"/>
              </a:rPr>
              <a:t>개발 범위와 기술 우선순위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418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6560"/>
                </a:solidFill>
                <a:latin typeface="Malgun Gothic"/>
              </a:rPr>
              <a:t>예산을 고려하면 ‘게임 앱’보다 반응형 웹 기반 LMS+미션 시스템부터 구축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960120" cy="45720"/>
          </a:xfrm>
          <a:prstGeom prst="rect">
            <a:avLst/>
          </a:prstGeom>
          <a:solidFill>
            <a:srgbClr val="B1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744C2B"/>
                </a:solidFill>
                <a:latin typeface="Malgun Gothic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73152" cy="3474720"/>
          </a:xfrm>
          <a:prstGeom prst="rect">
            <a:avLst/>
          </a:prstGeom>
          <a:solidFill>
            <a:srgbClr val="B1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764792"/>
            <a:ext cx="3035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1순위 · 반드시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03704"/>
            <a:ext cx="3035808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• 반응형 웹</a:t>
            </a:r>
            <a:br/>
            <a:r>
              <a:t>• 회원가입/로그인</a:t>
            </a:r>
            <a:br/>
            <a:r>
              <a:t>• 강의·퀴즈 CMS</a:t>
            </a:r>
            <a:br/>
            <a:r>
              <a:t>• 진도 저장</a:t>
            </a:r>
            <a:br/>
            <a:r>
              <a:t>• 교재 QR 딥링크</a:t>
            </a:r>
            <a:br/>
            <a:r>
              <a:t>• 관리자 페이지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60020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07408" y="1600200"/>
            <a:ext cx="73152" cy="3474720"/>
          </a:xfrm>
          <a:prstGeom prst="rect">
            <a:avLst/>
          </a:prstGeom>
          <a:solidFill>
            <a:srgbClr val="49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8576" y="1764792"/>
            <a:ext cx="3035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2순위 · 효과 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203704"/>
            <a:ext cx="3035808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• 배지·별·유물카드</a:t>
            </a:r>
            <a:br/>
            <a:r>
              <a:t>• 학생 대시보드</a:t>
            </a:r>
            <a:br/>
            <a:r>
              <a:t>• 학부모 리포트</a:t>
            </a:r>
            <a:br/>
            <a:r>
              <a:t>• 지도자 반 관리</a:t>
            </a:r>
            <a:br/>
            <a:r>
              <a:t>• 결제/구독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60020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83296" y="1600200"/>
            <a:ext cx="73152" cy="3474720"/>
          </a:xfrm>
          <a:prstGeom prst="rect">
            <a:avLst/>
          </a:prstGeom>
          <a:solidFill>
            <a:srgbClr val="42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4464" y="1764792"/>
            <a:ext cx="3035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3순위 · 확장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203704"/>
            <a:ext cx="3035808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• 바둑판 인터랙션 고도화</a:t>
            </a:r>
            <a:br/>
            <a:r>
              <a:t>• AI 맞춤 문제 추천</a:t>
            </a:r>
            <a:br/>
            <a:r>
              <a:t>• 랭킹/대회</a:t>
            </a:r>
            <a:br/>
            <a:r>
              <a:t>• 모바일 앱</a:t>
            </a:r>
            <a:br/>
            <a:r>
              <a:t>• 박물관·지역사 연계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5321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44C2B"/>
                </a:solidFill>
                <a:latin typeface="Malgun Gothic"/>
              </a:rPr>
              <a:t>초기 성공조건: 화려한 기능보다 ‘교재와 웹이 매끄럽게 이어지는 24강 학습 루프’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5196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560"/>
                </a:solidFill>
                <a:latin typeface="Malgun Gothic"/>
              </a:rPr>
              <a:t>바둑타고 한국사 여행 · Website Planning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51967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6560"/>
                </a:solidFill>
                <a:latin typeface="Malgun Gothic"/>
              </a:rPr>
              <a:t>2026.08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31F1B"/>
                </a:solidFill>
                <a:latin typeface="Malgun Gothic"/>
              </a:rPr>
              <a:t>12주 MVP 구축 일정(안)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418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6560"/>
                </a:solidFill>
                <a:latin typeface="Malgun Gothic"/>
              </a:rPr>
              <a:t>콘텐츠 제작과 웹 개발을 병렬로 진행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960120" cy="45720"/>
          </a:xfrm>
          <a:prstGeom prst="rect">
            <a:avLst/>
          </a:prstGeom>
          <a:solidFill>
            <a:srgbClr val="B1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744C2B"/>
                </a:solidFill>
                <a:latin typeface="Malgun Gothic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1417320" cy="347472"/>
          </a:xfrm>
          <a:prstGeom prst="roundRect">
            <a:avLst/>
          </a:prstGeom>
          <a:solidFill>
            <a:srgbClr val="B1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82496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1~2주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1627632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212848"/>
            <a:ext cx="73152" cy="2240280"/>
          </a:xfrm>
          <a:prstGeom prst="rect">
            <a:avLst/>
          </a:prstGeom>
          <a:solidFill>
            <a:srgbClr val="B1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3774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기획·설계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816352"/>
            <a:ext cx="1280160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IA, 화면정의, 콘텐츠 포맷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9464" y="1645920"/>
            <a:ext cx="1417320" cy="347472"/>
          </a:xfrm>
          <a:prstGeom prst="roundRect">
            <a:avLst/>
          </a:prstGeom>
          <a:solidFill>
            <a:srgbClr val="B5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69464" y="1682496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3~5주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9464" y="2212848"/>
            <a:ext cx="1627632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69464" y="2212848"/>
            <a:ext cx="73152" cy="2240280"/>
          </a:xfrm>
          <a:prstGeom prst="rect">
            <a:avLst/>
          </a:prstGeom>
          <a:solidFill>
            <a:srgbClr val="B5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70632" y="23774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디자인·CMS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2816352"/>
            <a:ext cx="1280160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UI 디자인, 관리자, 회원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53128" y="1645920"/>
            <a:ext cx="1417320" cy="347472"/>
          </a:xfrm>
          <a:prstGeom prst="roundRect">
            <a:avLst/>
          </a:prstGeom>
          <a:solidFill>
            <a:srgbClr val="49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53128" y="1682496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4~8주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53128" y="2212848"/>
            <a:ext cx="1627632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53128" y="2212848"/>
            <a:ext cx="73152" cy="2240280"/>
          </a:xfrm>
          <a:prstGeom prst="rect">
            <a:avLst/>
          </a:prstGeom>
          <a:solidFill>
            <a:srgbClr val="49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54296" y="23774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콘텐츠 제작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4296" y="2816352"/>
            <a:ext cx="1280160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24강 원고·영상·퀴즈·활동지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36792" y="1645920"/>
            <a:ext cx="1417320" cy="347472"/>
          </a:xfrm>
          <a:prstGeom prst="roundRect">
            <a:avLst/>
          </a:prstGeom>
          <a:solidFill>
            <a:srgbClr val="42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36792" y="1682496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6~10주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36792" y="2212848"/>
            <a:ext cx="1627632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36792" y="2212848"/>
            <a:ext cx="73152" cy="2240280"/>
          </a:xfrm>
          <a:prstGeom prst="rect">
            <a:avLst/>
          </a:prstGeom>
          <a:solidFill>
            <a:srgbClr val="42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59" y="23774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개발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2816352"/>
            <a:ext cx="1280160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진도, 미션, QR, 대시보드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0456" y="1645920"/>
            <a:ext cx="1417320" cy="347472"/>
          </a:xfrm>
          <a:prstGeom prst="roundRect">
            <a:avLst/>
          </a:prstGeom>
          <a:solidFill>
            <a:srgbClr val="CEA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0456" y="1682496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11주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0456" y="2212848"/>
            <a:ext cx="1627632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220456" y="2212848"/>
            <a:ext cx="73152" cy="2240280"/>
          </a:xfrm>
          <a:prstGeom prst="rect">
            <a:avLst/>
          </a:prstGeom>
          <a:solidFill>
            <a:srgbClr val="CEA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21624" y="23774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테스트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1624" y="2816352"/>
            <a:ext cx="1280160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학원생 파일럿·수정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1645920"/>
            <a:ext cx="1417320" cy="347472"/>
          </a:xfrm>
          <a:prstGeom prst="roundRect">
            <a:avLst/>
          </a:prstGeom>
          <a:solidFill>
            <a:srgbClr val="744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104120" y="1682496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12주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04120" y="2212848"/>
            <a:ext cx="1627632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104120" y="2212848"/>
            <a:ext cx="73152" cy="2240280"/>
          </a:xfrm>
          <a:prstGeom prst="rect">
            <a:avLst/>
          </a:prstGeom>
          <a:solidFill>
            <a:srgbClr val="744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305288" y="23774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오픈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05288" y="2816352"/>
            <a:ext cx="1280160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MVP 공개·체험회원 모집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029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1F1B"/>
                </a:solidFill>
                <a:latin typeface="Malgun Gothic"/>
              </a:rPr>
              <a:t>파일럿 권장: 실제 초등학생 10~20명에게 2주 사용 → 이탈 지점·난이도·재미 요소를 확인한 뒤 확장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5196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560"/>
                </a:solidFill>
                <a:latin typeface="Malgun Gothic"/>
              </a:rPr>
              <a:t>바둑타고 한국사 여행 · Website Planning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651967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6560"/>
                </a:solidFill>
                <a:latin typeface="Malgun Gothic"/>
              </a:rPr>
              <a:t>2026.08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1F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685800"/>
            <a:ext cx="1325880" cy="347472"/>
          </a:xfrm>
          <a:prstGeom prst="roundRect">
            <a:avLst/>
          </a:prstGeom>
          <a:solidFill>
            <a:srgbClr val="B1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2237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algun Gothic"/>
              </a:rPr>
              <a:t>홈페이지 기획의 다음 단계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94560"/>
            <a:ext cx="3291840" cy="2286000"/>
          </a:xfrm>
          <a:prstGeom prst="roundRect">
            <a:avLst/>
          </a:prstGeom>
          <a:solidFill>
            <a:srgbClr val="302B26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77240" y="2194560"/>
            <a:ext cx="73152" cy="2286000"/>
          </a:xfrm>
          <a:prstGeom prst="rect">
            <a:avLst/>
          </a:prstGeom>
          <a:solidFill>
            <a:srgbClr val="B1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78408" y="2359152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chemeClr val="bg1">
                    <a:lumMod val="95000"/>
                  </a:schemeClr>
                </a:solidFill>
                <a:latin typeface="Malgun Gothic"/>
              </a:rPr>
              <a:t>① 화면설계서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798064"/>
            <a:ext cx="2944368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chemeClr val="bg1">
                    <a:lumMod val="95000"/>
                  </a:schemeClr>
                </a:solidFill>
                <a:latin typeface="Malgun Gothic"/>
              </a:rPr>
              <a:t>메인 / 시대지도 / 강의 / 미션 / 마이페이지 / 관리자</a:t>
            </a:r>
            <a:br>
              <a:rPr>
                <a:solidFill>
                  <a:schemeClr val="bg1">
                    <a:lumMod val="95000"/>
                  </a:schemeClr>
                </a:solidFill>
              </a:rPr>
            </a:br>
            <a:r>
              <a:rPr>
                <a:solidFill>
                  <a:schemeClr val="bg1">
                    <a:lumMod val="95000"/>
                  </a:schemeClr>
                </a:solidFill>
              </a:rPr>
              <a:t>6개 핵심 화면을 Figma 수준으로 구체화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194560"/>
            <a:ext cx="3291840" cy="2286000"/>
          </a:xfrm>
          <a:prstGeom prst="roundRect">
            <a:avLst/>
          </a:prstGeom>
          <a:solidFill>
            <a:srgbClr val="302B26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434840" y="2194560"/>
            <a:ext cx="73152" cy="2286000"/>
          </a:xfrm>
          <a:prstGeom prst="rect">
            <a:avLst/>
          </a:prstGeom>
          <a:solidFill>
            <a:srgbClr val="B5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36007" y="2359152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chemeClr val="bg1">
                    <a:lumMod val="95000"/>
                  </a:schemeClr>
                </a:solidFill>
                <a:latin typeface="Malgun Gothic"/>
              </a:rPr>
              <a:t>② MVP 콘텐츠 24강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798064"/>
            <a:ext cx="2944368" cy="823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chemeClr val="bg1">
                    <a:lumMod val="95000"/>
                  </a:schemeClr>
                </a:solidFill>
                <a:latin typeface="Malgun Gothic"/>
              </a:rPr>
              <a:t>선사·고조선·삼국을 중심으로</a:t>
            </a:r>
            <a:br>
              <a:rPr>
                <a:solidFill>
                  <a:schemeClr val="bg1">
                    <a:lumMod val="95000"/>
                  </a:schemeClr>
                </a:solidFill>
              </a:rPr>
            </a:br>
            <a:r>
              <a:rPr>
                <a:solidFill>
                  <a:schemeClr val="bg1">
                    <a:lumMod val="95000"/>
                  </a:schemeClr>
                </a:solidFill>
              </a:rPr>
              <a:t>역사 스토리와 바둑 개념을 1:1 매칭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194560"/>
            <a:ext cx="3291840" cy="2286000"/>
          </a:xfrm>
          <a:prstGeom prst="roundRect">
            <a:avLst/>
          </a:prstGeom>
          <a:solidFill>
            <a:srgbClr val="302B26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092440" y="2194560"/>
            <a:ext cx="73152" cy="2286000"/>
          </a:xfrm>
          <a:prstGeom prst="rect">
            <a:avLst/>
          </a:prstGeom>
          <a:solidFill>
            <a:srgbClr val="49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93608" y="2359152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chemeClr val="bg1">
                    <a:lumMod val="95000"/>
                  </a:schemeClr>
                </a:solidFill>
                <a:latin typeface="Malgun Gothic"/>
              </a:rPr>
              <a:t>③ 개발 견적서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798064"/>
            <a:ext cx="2944368" cy="823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chemeClr val="bg1">
                    <a:lumMod val="95000"/>
                  </a:schemeClr>
                </a:solidFill>
                <a:latin typeface="Malgun Gothic"/>
              </a:rPr>
              <a:t>기능 명세를 기준으로</a:t>
            </a:r>
            <a:br>
              <a:rPr>
                <a:solidFill>
                  <a:schemeClr val="bg1">
                    <a:lumMod val="95000"/>
                  </a:schemeClr>
                </a:solidFill>
              </a:rPr>
            </a:br>
            <a:r>
              <a:rPr>
                <a:solidFill>
                  <a:schemeClr val="bg1">
                    <a:lumMod val="95000"/>
                  </a:schemeClr>
                </a:solidFill>
              </a:rPr>
              <a:t>웹개발·디자인·영상·서버 비용 분리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0749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EA248"/>
                </a:solidFill>
                <a:latin typeface="Malgun Gothic"/>
              </a:rPr>
              <a:t>추천 시작점: ‘메인 화면 + 구석기 1강 + 학생 마이페이지’ 3개 화면을 먼저 프로토타입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080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9A92"/>
                </a:solidFill>
                <a:latin typeface="Malgun Gothic"/>
              </a:rPr>
              <a:t>Benchmark reference: ssbaduk.com (상상바둑)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 err="1">
                <a:solidFill>
                  <a:srgbClr val="231F1B"/>
                </a:solidFill>
                <a:latin typeface="Malgun Gothic"/>
              </a:rPr>
              <a:t>참고사항</a:t>
            </a:r>
            <a:endParaRPr sz="2800" b="1" dirty="0">
              <a:solidFill>
                <a:srgbClr val="231F1B"/>
              </a:solidFill>
              <a:latin typeface="Malgun Gothi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3232" y="9418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6560"/>
                </a:solidFill>
                <a:latin typeface="Malgun Gothic"/>
              </a:rPr>
              <a:t>상상바둑 사이트에서 확인한 구조를 기능적 참고자료로 활용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960120" cy="45720"/>
          </a:xfrm>
          <a:prstGeom prst="rect">
            <a:avLst/>
          </a:prstGeom>
          <a:solidFill>
            <a:srgbClr val="B1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744C2B"/>
                </a:solidFill>
                <a:latin typeface="Malgun Gothic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73152" cy="3474720"/>
          </a:xfrm>
          <a:prstGeom prst="rect">
            <a:avLst/>
          </a:prstGeom>
          <a:solidFill>
            <a:srgbClr val="B1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10512"/>
            <a:ext cx="4910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확인한 주요 구조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49424"/>
            <a:ext cx="4910328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• 교육콘텐츠: 상상바둑·애니바둑</a:t>
            </a:r>
            <a:br/>
            <a:r>
              <a:t>• 수업도우미: 포석·집중교육·노래·동화·인성교육 등</a:t>
            </a:r>
            <a:br/>
            <a:r>
              <a:t>• 바둑교재: A~F 단계형 시리즈</a:t>
            </a:r>
            <a:br/>
            <a:r>
              <a:t>• 용품: 바둑판·바둑알·교육용품</a:t>
            </a:r>
            <a:br/>
            <a:r>
              <a:t>• 회원/마이페이지/장바구니/주문조회</a:t>
            </a:r>
            <a:br/>
            <a:r>
              <a:t>• 샘플영상·1:1문의·전화상담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51663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9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645920"/>
            <a:ext cx="73152" cy="3474720"/>
          </a:xfrm>
          <a:prstGeom prst="rect">
            <a:avLst/>
          </a:prstGeom>
          <a:solidFill>
            <a:srgbClr val="49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810512"/>
            <a:ext cx="4818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1B"/>
                </a:solidFill>
                <a:latin typeface="Malgun Gothic"/>
              </a:rPr>
              <a:t>본 기획안의 재해석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249424"/>
            <a:ext cx="4818888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6560"/>
                </a:solidFill>
                <a:latin typeface="Malgun Gothic"/>
              </a:rPr>
              <a:t>• 카테고리 쇼핑 구조 → 시대 여행 구조</a:t>
            </a:r>
            <a:br/>
            <a:r>
              <a:t>• 영상 시청 → 미션형 학습 루프</a:t>
            </a:r>
            <a:br/>
            <a:r>
              <a:t>• 교재 판매 → QR 연동 블렌디드 러닝</a:t>
            </a:r>
            <a:br/>
            <a:r>
              <a:t>• 수업도우미 → 한국사 융합 수업 패키지</a:t>
            </a:r>
            <a:br/>
            <a:r>
              <a:t>• 마이페이지 → 학습 성취 대시보드</a:t>
            </a:r>
            <a:br/>
            <a:r>
              <a:t>• 상담 → 개인구독 + 기관도입 전환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2356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96560"/>
                </a:solidFill>
                <a:latin typeface="Malgun Gothic"/>
              </a:rPr>
              <a:t>※ 디자인·문구·콘텐츠를 복제하지 않고, 정보구조와 사용자 흐름을 벤치마킹하는 방향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5196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560"/>
                </a:solidFill>
                <a:latin typeface="Malgun Gothic"/>
              </a:rPr>
              <a:t>바둑타고 한국사 여행 · Website Planning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1967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6560"/>
                </a:solidFill>
                <a:latin typeface="Malgun Gothic"/>
              </a:rPr>
              <a:t>2026.08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46C6BD-528B-4BC0-8797-E9892545681C}"/>
              </a:ext>
            </a:extLst>
          </p:cNvPr>
          <p:cNvSpPr txBox="1"/>
          <p:nvPr/>
        </p:nvSpPr>
        <p:spPr>
          <a:xfrm>
            <a:off x="3000653" y="2228671"/>
            <a:ext cx="67914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200" b="1" dirty="0"/>
              <a:t>홈페이지 기획서</a:t>
            </a:r>
          </a:p>
        </p:txBody>
      </p:sp>
    </p:spTree>
    <p:extLst>
      <p:ext uri="{BB962C8B-B14F-4D97-AF65-F5344CB8AC3E}">
        <p14:creationId xmlns:p14="http://schemas.microsoft.com/office/powerpoint/2010/main" val="19634111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CE5D6E8-5358-4B09-B0E3-7A6470462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044" y="0"/>
            <a:ext cx="57559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5965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1704AF3-0792-4399-A122-B7A2398EF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0"/>
            <a:ext cx="10287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8BF65A-0262-4BBF-A9E3-56792DB59C88}"/>
              </a:ext>
            </a:extLst>
          </p:cNvPr>
          <p:cNvSpPr txBox="1"/>
          <p:nvPr/>
        </p:nvSpPr>
        <p:spPr>
          <a:xfrm>
            <a:off x="62144" y="97654"/>
            <a:ext cx="1722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메인페이지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43581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8BF65A-0262-4BBF-A9E3-56792DB59C88}"/>
              </a:ext>
            </a:extLst>
          </p:cNvPr>
          <p:cNvSpPr txBox="1"/>
          <p:nvPr/>
        </p:nvSpPr>
        <p:spPr>
          <a:xfrm>
            <a:off x="62144" y="97654"/>
            <a:ext cx="1722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로그인 페이지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E969F9F-43BE-4E62-8215-86CA5AB4B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821" y="0"/>
            <a:ext cx="54883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9603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8BF65A-0262-4BBF-A9E3-56792DB59C88}"/>
              </a:ext>
            </a:extLst>
          </p:cNvPr>
          <p:cNvSpPr txBox="1"/>
          <p:nvPr/>
        </p:nvSpPr>
        <p:spPr>
          <a:xfrm>
            <a:off x="62144" y="97654"/>
            <a:ext cx="17222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회원가입 페이지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7F63030-D23C-447B-B2E2-C67FC5B1E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821" y="0"/>
            <a:ext cx="54883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8646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8BF65A-0262-4BBF-A9E3-56792DB59C88}"/>
              </a:ext>
            </a:extLst>
          </p:cNvPr>
          <p:cNvSpPr txBox="1"/>
          <p:nvPr/>
        </p:nvSpPr>
        <p:spPr>
          <a:xfrm>
            <a:off x="62144" y="97654"/>
            <a:ext cx="1713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바둑강의영상페이지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5BA4403-133A-4F77-A1B7-2E797E54B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3759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8BF65A-0262-4BBF-A9E3-56792DB59C88}"/>
              </a:ext>
            </a:extLst>
          </p:cNvPr>
          <p:cNvSpPr txBox="1"/>
          <p:nvPr/>
        </p:nvSpPr>
        <p:spPr>
          <a:xfrm>
            <a:off x="62144" y="97654"/>
            <a:ext cx="1713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바둑문제풀이페이지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66DFBBF-E3E7-4792-A24D-C57F43D29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9552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8BF65A-0262-4BBF-A9E3-56792DB59C88}"/>
              </a:ext>
            </a:extLst>
          </p:cNvPr>
          <p:cNvSpPr txBox="1"/>
          <p:nvPr/>
        </p:nvSpPr>
        <p:spPr>
          <a:xfrm>
            <a:off x="62144" y="97654"/>
            <a:ext cx="1713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시대여행</a:t>
            </a:r>
            <a:endParaRPr lang="en-US" altLang="ko-KR" dirty="0"/>
          </a:p>
          <a:p>
            <a:pPr algn="ctr"/>
            <a:r>
              <a:rPr lang="ko-KR" altLang="en-US" dirty="0"/>
              <a:t>페이지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32072A4-1FAE-49D2-9175-637CCE850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0370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8BF65A-0262-4BBF-A9E3-56792DB59C88}"/>
              </a:ext>
            </a:extLst>
          </p:cNvPr>
          <p:cNvSpPr txBox="1"/>
          <p:nvPr/>
        </p:nvSpPr>
        <p:spPr>
          <a:xfrm>
            <a:off x="62144" y="97654"/>
            <a:ext cx="1713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역사콘텐츠</a:t>
            </a:r>
            <a:endParaRPr lang="en-US" altLang="ko-KR" dirty="0"/>
          </a:p>
          <a:p>
            <a:pPr algn="ctr"/>
            <a:r>
              <a:rPr lang="ko-KR" altLang="en-US" dirty="0"/>
              <a:t>페이지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FC9C87D-4C54-4CC7-A2FF-C49555651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6198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8BF65A-0262-4BBF-A9E3-56792DB59C88}"/>
              </a:ext>
            </a:extLst>
          </p:cNvPr>
          <p:cNvSpPr txBox="1"/>
          <p:nvPr/>
        </p:nvSpPr>
        <p:spPr>
          <a:xfrm>
            <a:off x="62144" y="97654"/>
            <a:ext cx="17133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이벤트</a:t>
            </a:r>
            <a:endParaRPr lang="en-US" altLang="ko-KR" dirty="0"/>
          </a:p>
          <a:p>
            <a:pPr algn="ctr"/>
            <a:r>
              <a:rPr lang="ko-KR" altLang="en-US" dirty="0"/>
              <a:t>페이지</a:t>
            </a:r>
            <a:endParaRPr lang="en-US" altLang="ko-KR" dirty="0"/>
          </a:p>
          <a:p>
            <a:pPr algn="ctr"/>
            <a:r>
              <a:rPr lang="ko-KR" altLang="en-US" dirty="0"/>
              <a:t>빼고 교재구입</a:t>
            </a:r>
            <a:endParaRPr lang="en-US" altLang="ko-KR" dirty="0"/>
          </a:p>
          <a:p>
            <a:pPr algn="ctr"/>
            <a:r>
              <a:rPr lang="ko-KR" altLang="en-US" dirty="0"/>
              <a:t>페이지로 수정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760747C-BA7F-4481-B2E7-D3AA63DF0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3100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8BF65A-0262-4BBF-A9E3-56792DB59C88}"/>
              </a:ext>
            </a:extLst>
          </p:cNvPr>
          <p:cNvSpPr txBox="1"/>
          <p:nvPr/>
        </p:nvSpPr>
        <p:spPr>
          <a:xfrm>
            <a:off x="62144" y="97654"/>
            <a:ext cx="1713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커뮤니티</a:t>
            </a:r>
            <a:endParaRPr lang="en-US" altLang="ko-KR" dirty="0"/>
          </a:p>
          <a:p>
            <a:pPr algn="ctr"/>
            <a:r>
              <a:rPr lang="ko-KR" altLang="en-US" dirty="0"/>
              <a:t>페이지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87D3495-DB85-4167-856F-28AEE81C3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254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1344</Words>
  <Application>Microsoft Office PowerPoint</Application>
  <PresentationFormat>와이드스크린</PresentationFormat>
  <Paragraphs>306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2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admin</dc:creator>
  <cp:keywords/>
  <dc:description>generated using python-pptx</dc:description>
  <cp:lastModifiedBy> </cp:lastModifiedBy>
  <cp:revision>5</cp:revision>
  <dcterms:created xsi:type="dcterms:W3CDTF">2013-01-27T09:14:16Z</dcterms:created>
  <dcterms:modified xsi:type="dcterms:W3CDTF">2026-08-17T03:33:03Z</dcterms:modified>
  <cp:category/>
</cp:coreProperties>
</file>